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73" r:id="rId6"/>
    <p:sldId id="260" r:id="rId7"/>
    <p:sldId id="261" r:id="rId8"/>
    <p:sldId id="274" r:id="rId9"/>
    <p:sldId id="271" r:id="rId10"/>
    <p:sldId id="275" r:id="rId11"/>
  </p:sldIdLst>
  <p:sldSz cx="18288000" cy="10287000"/>
  <p:notesSz cx="6858000" cy="9144000"/>
  <p:embeddedFontLst>
    <p:embeddedFont>
      <p:font typeface="Calibri" panose="020F0502020204030204" pitchFamily="34" charset="0"/>
      <p:regular r:id="rId13"/>
      <p:bold r:id="rId14"/>
      <p:italic r:id="rId15"/>
      <p:boldItalic r:id="rId16"/>
    </p:embeddedFont>
    <p:embeddedFont>
      <p:font typeface="Tahoma" panose="020B0604030504040204" pitchFamily="34" charset="0"/>
      <p:regular r:id="rId17"/>
      <p:bold r:id="rId18"/>
    </p:embeddedFont>
    <p:embeddedFont>
      <p:font typeface="华文细黑" panose="020B0604020202020204" charset="-122"/>
      <p:regular r:id="rId19"/>
    </p:embeddedFont>
    <p:embeddedFont>
      <p:font typeface="Cabin Bold" panose="020B0604020202020204" charset="0"/>
      <p:regular r:id="rId20"/>
    </p:embeddedFont>
    <p:embeddedFont>
      <p:font typeface="宋体" panose="02010600030101010101" pitchFamily="2" charset="-122"/>
      <p:regular r:id="rId21"/>
    </p:embeddedFont>
    <p:embeddedFont>
      <p:font typeface="Cabin"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696"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51D6A-3F94-475C-BF87-ADB5882C9588}" type="datetimeFigureOut">
              <a:rPr lang="en-US" smtClean="0"/>
              <a:t>12/28/2025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A66027-C31B-4AAA-9762-DC123CBAEB1F}" type="slidenum">
              <a:rPr lang="en-US" smtClean="0"/>
              <a:t>‹#›</a:t>
            </a:fld>
            <a:endParaRPr lang="en-US"/>
          </a:p>
        </p:txBody>
      </p:sp>
    </p:spTree>
    <p:extLst>
      <p:ext uri="{BB962C8B-B14F-4D97-AF65-F5344CB8AC3E}">
        <p14:creationId xmlns:p14="http://schemas.microsoft.com/office/powerpoint/2010/main" val="3151566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4A66027-C31B-4AAA-9762-DC123CBAEB1F}" type="slidenum">
              <a:rPr lang="en-US" smtClean="0"/>
              <a:t>6</a:t>
            </a:fld>
            <a:endParaRPr lang="en-US"/>
          </a:p>
        </p:txBody>
      </p:sp>
    </p:spTree>
    <p:extLst>
      <p:ext uri="{BB962C8B-B14F-4D97-AF65-F5344CB8AC3E}">
        <p14:creationId xmlns:p14="http://schemas.microsoft.com/office/powerpoint/2010/main" val="144814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4A66027-C31B-4AAA-9762-DC123CBAEB1F}" type="slidenum">
              <a:rPr lang="en-US" smtClean="0"/>
              <a:t>10</a:t>
            </a:fld>
            <a:endParaRPr lang="en-US"/>
          </a:p>
        </p:txBody>
      </p:sp>
    </p:spTree>
    <p:extLst>
      <p:ext uri="{BB962C8B-B14F-4D97-AF65-F5344CB8AC3E}">
        <p14:creationId xmlns:p14="http://schemas.microsoft.com/office/powerpoint/2010/main" val="3380636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4.png"/><Relationship Id="rId4" Type="http://schemas.openxmlformats.org/officeDocument/2006/relationships/tags" Target="../tags/tag4.xml"/><Relationship Id="rId9"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8.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tags" Target="../tags/tag20.xml"/><Relationship Id="rId3" Type="http://schemas.openxmlformats.org/officeDocument/2006/relationships/tags" Target="../tags/tag15.xml"/><Relationship Id="rId7" Type="http://schemas.openxmlformats.org/officeDocument/2006/relationships/tags" Target="../tags/tag19.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10" Type="http://schemas.openxmlformats.org/officeDocument/2006/relationships/image" Target="../media/image4.png"/><Relationship Id="rId4" Type="http://schemas.openxmlformats.org/officeDocument/2006/relationships/tags" Target="../tags/tag16.xml"/><Relationship Id="rId9"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3.png"/><Relationship Id="rId3" Type="http://schemas.openxmlformats.org/officeDocument/2006/relationships/slideLayout" Target="../slideLayouts/slideLayout7.xml"/><Relationship Id="rId7" Type="http://schemas.openxmlformats.org/officeDocument/2006/relationships/image" Target="../media/image18.svg"/><Relationship Id="rId12" Type="http://schemas.openxmlformats.org/officeDocument/2006/relationships/image" Target="../media/image12.png"/><Relationship Id="rId2" Type="http://schemas.openxmlformats.org/officeDocument/2006/relationships/tags" Target="../tags/tag22.xml"/><Relationship Id="rId16" Type="http://schemas.openxmlformats.org/officeDocument/2006/relationships/image" Target="../media/image16.png"/><Relationship Id="rId1" Type="http://schemas.openxmlformats.org/officeDocument/2006/relationships/tags" Target="../tags/tag21.xml"/><Relationship Id="rId6" Type="http://schemas.openxmlformats.org/officeDocument/2006/relationships/image" Target="../media/image10.png"/><Relationship Id="rId11" Type="http://schemas.openxmlformats.org/officeDocument/2006/relationships/image" Target="../media/image7.svg"/><Relationship Id="rId5" Type="http://schemas.openxmlformats.org/officeDocument/2006/relationships/image" Target="../media/image1.jpeg"/><Relationship Id="rId15" Type="http://schemas.openxmlformats.org/officeDocument/2006/relationships/image" Target="../media/image15.png"/><Relationship Id="rId4" Type="http://schemas.openxmlformats.org/officeDocument/2006/relationships/notesSlide" Target="../notesSlides/notesSlide1.xml"/><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xml"/><Relationship Id="rId1" Type="http://schemas.openxmlformats.org/officeDocument/2006/relationships/tags" Target="../tags/tag23.xml"/><Relationship Id="rId11" Type="http://schemas.openxmlformats.org/officeDocument/2006/relationships/image" Target="../media/image22.svg"/><Relationship Id="rId5" Type="http://schemas.openxmlformats.org/officeDocument/2006/relationships/image" Target="../media/image17.png"/><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image" Target="../media/image4.png"/><Relationship Id="rId4" Type="http://schemas.openxmlformats.org/officeDocument/2006/relationships/tags" Target="../tags/tag28.xml"/><Relationship Id="rId9"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4.xml"/><Relationship Id="rId1" Type="http://schemas.openxmlformats.org/officeDocument/2006/relationships/tags" Target="../tags/tag3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2700000">
            <a:off x="4226452" y="2785792"/>
            <a:ext cx="16909587" cy="6118196"/>
          </a:xfrm>
          <a:custGeom>
            <a:avLst/>
            <a:gdLst/>
            <a:ahLst/>
            <a:cxnLst/>
            <a:rect l="l" t="t" r="r" b="b"/>
            <a:pathLst>
              <a:path w="16909587" h="6118196">
                <a:moveTo>
                  <a:pt x="0" y="0"/>
                </a:moveTo>
                <a:lnTo>
                  <a:pt x="16909587" y="0"/>
                </a:lnTo>
                <a:lnTo>
                  <a:pt x="16909587" y="6118196"/>
                </a:lnTo>
                <a:lnTo>
                  <a:pt x="0" y="6118196"/>
                </a:lnTo>
                <a:lnTo>
                  <a:pt x="0" y="0"/>
                </a:lnTo>
                <a:close/>
              </a:path>
            </a:pathLst>
          </a:custGeom>
          <a:blipFill>
            <a:blip r:embed="rId3">
              <a:alphaModFix amt="60000"/>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1028701" y="3516763"/>
            <a:ext cx="8801100" cy="3411190"/>
          </a:xfrm>
          <a:prstGeom prst="rect">
            <a:avLst/>
          </a:prstGeom>
        </p:spPr>
        <p:txBody>
          <a:bodyPr wrap="square" lIns="0" tIns="0" rIns="0" bIns="0" rtlCol="0" anchor="t">
            <a:spAutoFit/>
          </a:bodyPr>
          <a:lstStyle/>
          <a:p>
            <a:pPr algn="l">
              <a:lnSpc>
                <a:spcPts val="13307"/>
              </a:lnSpc>
            </a:pPr>
            <a:r>
              <a:rPr lang="en-US" sz="7000" smtClean="0">
                <a:solidFill>
                  <a:srgbClr val="F8F8F8"/>
                </a:solidFill>
                <a:latin typeface="Cabin Bold" panose="020B0604020202020204" charset="0"/>
                <a:ea typeface="Cabin"/>
                <a:cs typeface="Cabin"/>
                <a:sym typeface="Cabin"/>
              </a:rPr>
              <a:t>XÂY DỰNG WEBSITE BÁN THỦY HẢI SẢN</a:t>
            </a:r>
            <a:endParaRPr lang="en-US" sz="7000">
              <a:solidFill>
                <a:srgbClr val="F8F8F8"/>
              </a:solidFill>
              <a:latin typeface="Cabin Bold" panose="020B0604020202020204" charset="0"/>
              <a:ea typeface="Cabin"/>
              <a:cs typeface="Cabin"/>
              <a:sym typeface="Cabin"/>
            </a:endParaRPr>
          </a:p>
        </p:txBody>
      </p:sp>
      <p:sp>
        <p:nvSpPr>
          <p:cNvPr id="8" name="TextBox 8"/>
          <p:cNvSpPr txBox="1"/>
          <p:nvPr/>
        </p:nvSpPr>
        <p:spPr>
          <a:xfrm>
            <a:off x="12681245" y="920254"/>
            <a:ext cx="4578055" cy="851756"/>
          </a:xfrm>
          <a:prstGeom prst="rect">
            <a:avLst/>
          </a:prstGeom>
        </p:spPr>
        <p:txBody>
          <a:bodyPr lIns="50800" tIns="50800" rIns="50800" bIns="50800" rtlCol="0" anchor="ctr"/>
          <a:lstStyle/>
          <a:p>
            <a:pPr algn="ctr">
              <a:lnSpc>
                <a:spcPts val="2100"/>
              </a:lnSpc>
            </a:pPr>
            <a:endParaRPr/>
          </a:p>
        </p:txBody>
      </p:sp>
      <p:sp>
        <p:nvSpPr>
          <p:cNvPr id="15" name="TextBox 15"/>
          <p:cNvSpPr txBox="1"/>
          <p:nvPr/>
        </p:nvSpPr>
        <p:spPr>
          <a:xfrm>
            <a:off x="12655845" y="7423903"/>
            <a:ext cx="4184355" cy="743793"/>
          </a:xfrm>
          <a:prstGeom prst="rect">
            <a:avLst/>
          </a:prstGeom>
        </p:spPr>
        <p:txBody>
          <a:bodyPr wrap="square" lIns="0" tIns="0" rIns="0" bIns="0" rtlCol="0" anchor="t">
            <a:spAutoFit/>
          </a:bodyPr>
          <a:lstStyle/>
          <a:p>
            <a:pPr>
              <a:lnSpc>
                <a:spcPts val="2859"/>
              </a:lnSpc>
              <a:spcBef>
                <a:spcPct val="0"/>
              </a:spcBef>
            </a:pPr>
            <a:r>
              <a:rPr lang="en-US" sz="2500" b="1" u="none" spc="191" smtClean="0">
                <a:solidFill>
                  <a:srgbClr val="F8F8F8"/>
                </a:solidFill>
                <a:latin typeface="Cabin Bold"/>
                <a:ea typeface="Cabin Bold"/>
                <a:cs typeface="Cabin Bold"/>
                <a:sym typeface="Cabin Bold"/>
              </a:rPr>
              <a:t>SVTH: </a:t>
            </a:r>
            <a:r>
              <a:rPr lang="en-US" sz="2500" b="1" spc="191" smtClean="0">
                <a:solidFill>
                  <a:srgbClr val="F8F8F8"/>
                </a:solidFill>
                <a:latin typeface="Cabin Bold"/>
                <a:ea typeface="Cabin Bold"/>
                <a:cs typeface="Cabin Bold"/>
                <a:sym typeface="Cabin Bold"/>
              </a:rPr>
              <a:t>HỒ </a:t>
            </a:r>
            <a:r>
              <a:rPr lang="en-US" sz="2500" b="1" spc="191">
                <a:solidFill>
                  <a:srgbClr val="F8F8F8"/>
                </a:solidFill>
                <a:latin typeface="Cabin Bold"/>
                <a:ea typeface="Cabin Bold"/>
                <a:cs typeface="Cabin Bold"/>
                <a:sym typeface="Cabin Bold"/>
              </a:rPr>
              <a:t>HOÀNG LONG</a:t>
            </a:r>
          </a:p>
          <a:p>
            <a:pPr marL="0" lvl="0" indent="0">
              <a:lnSpc>
                <a:spcPts val="2859"/>
              </a:lnSpc>
              <a:spcBef>
                <a:spcPct val="0"/>
              </a:spcBef>
            </a:pPr>
            <a:endParaRPr lang="en-US" sz="2500" b="1" u="none" spc="191" smtClean="0">
              <a:solidFill>
                <a:srgbClr val="F8F8F8"/>
              </a:solidFill>
              <a:latin typeface="Cabin Bold"/>
              <a:ea typeface="Cabin Bold"/>
              <a:cs typeface="Cabin Bold"/>
              <a:sym typeface="Cabin Bold"/>
            </a:endParaRPr>
          </a:p>
        </p:txBody>
      </p:sp>
      <p:pic>
        <p:nvPicPr>
          <p:cNvPr id="1028" name="Picture 4" descr="cet.tvu.edu.v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0626" y="440781"/>
            <a:ext cx="11311006" cy="1919196"/>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p:cNvSpPr txBox="1"/>
          <p:nvPr/>
        </p:nvSpPr>
        <p:spPr>
          <a:xfrm>
            <a:off x="1524000" y="7541962"/>
            <a:ext cx="6248400" cy="477054"/>
          </a:xfrm>
          <a:prstGeom prst="rect">
            <a:avLst/>
          </a:prstGeom>
          <a:noFill/>
        </p:spPr>
        <p:txBody>
          <a:bodyPr wrap="square" rtlCol="0">
            <a:spAutoFit/>
          </a:bodyPr>
          <a:lstStyle/>
          <a:p>
            <a:r>
              <a:rPr lang="en-US" sz="2200" b="1" dirty="0" smtClean="0">
                <a:solidFill>
                  <a:schemeClr val="bg1"/>
                </a:solidFill>
                <a:latin typeface="Cabin Bold" panose="020B0604020202020204" charset="0"/>
                <a:cs typeface="Tahoma" panose="020B0604030504040204" pitchFamily="34" charset="0"/>
              </a:rPr>
              <a:t>GVHD:</a:t>
            </a:r>
            <a:r>
              <a:rPr lang="en-US" sz="2200" dirty="0" smtClean="0">
                <a:solidFill>
                  <a:schemeClr val="bg1"/>
                </a:solidFill>
                <a:latin typeface="Cabin Bold" panose="020B0604020202020204" charset="0"/>
                <a:cs typeface="Tahoma" panose="020B0604030504040204" pitchFamily="34" charset="0"/>
              </a:rPr>
              <a:t> THS. NGUYỄN HOÀNG D</a:t>
            </a:r>
            <a:r>
              <a:rPr lang="en-US" sz="2500" dirty="0" smtClean="0">
                <a:solidFill>
                  <a:schemeClr val="bg1"/>
                </a:solidFill>
                <a:latin typeface="Cabin Bold" panose="020B0604020202020204" charset="0"/>
                <a:cs typeface="Tahoma" panose="020B0604030504040204" pitchFamily="34" charset="0"/>
              </a:rPr>
              <a:t>U</a:t>
            </a:r>
            <a:r>
              <a:rPr lang="en-US" sz="2200" dirty="0" smtClean="0">
                <a:solidFill>
                  <a:schemeClr val="bg1"/>
                </a:solidFill>
                <a:latin typeface="Cabin Bold" panose="020B0604020202020204" charset="0"/>
                <a:cs typeface="Tahoma" panose="020B0604030504040204" pitchFamily="34" charset="0"/>
              </a:rPr>
              <a:t>Y THIỆN</a:t>
            </a:r>
            <a:endParaRPr lang="en-US" sz="2200" dirty="0">
              <a:solidFill>
                <a:schemeClr val="bg1"/>
              </a:solidFill>
              <a:latin typeface="Cabin Bold" panose="020B0604020202020204" charset="0"/>
              <a:cs typeface="Tahoma" panose="020B060403050404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4" name="TextBox 34"/>
          <p:cNvSpPr txBox="1"/>
          <p:nvPr/>
        </p:nvSpPr>
        <p:spPr>
          <a:xfrm>
            <a:off x="533400" y="-48957"/>
            <a:ext cx="15621000" cy="1437509"/>
          </a:xfrm>
          <a:prstGeom prst="rect">
            <a:avLst/>
          </a:prstGeom>
        </p:spPr>
        <p:txBody>
          <a:bodyPr wrap="square" lIns="0" tIns="0" rIns="0" bIns="0" rtlCol="0" anchor="t">
            <a:spAutoFit/>
          </a:bodyPr>
          <a:lstStyle/>
          <a:p>
            <a:pPr>
              <a:lnSpc>
                <a:spcPts val="13307"/>
              </a:lnSpc>
            </a:pPr>
            <a:r>
              <a:rPr lang="en-US" sz="5000">
                <a:latin typeface="Cabin Bold" panose="020B0604020202020204" charset="0"/>
                <a:ea typeface="Cabin"/>
                <a:cs typeface="Cabin"/>
                <a:sym typeface="Cabin"/>
              </a:rPr>
              <a:t>XÂY DỰNG WEBSITE BÁN THỦY HẢI SẢN</a:t>
            </a:r>
            <a:endParaRPr lang="en-US" sz="5000">
              <a:latin typeface="Cabin Bold" panose="020B0604020202020204" charset="0"/>
              <a:ea typeface="Cabin"/>
              <a:cs typeface="Cabin"/>
              <a:sym typeface="Cabin"/>
            </a:endParaRPr>
          </a:p>
        </p:txBody>
      </p:sp>
      <p:pic>
        <p:nvPicPr>
          <p:cNvPr id="47" name="图片 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5800" y="2247900"/>
            <a:ext cx="6237206" cy="6533887"/>
          </a:xfrm>
          <a:prstGeom prst="rect">
            <a:avLst/>
          </a:prstGeom>
        </p:spPr>
      </p:pic>
      <p:sp>
        <p:nvSpPr>
          <p:cNvPr id="48" name="Text Box 4"/>
          <p:cNvSpPr txBox="1"/>
          <p:nvPr/>
        </p:nvSpPr>
        <p:spPr>
          <a:xfrm>
            <a:off x="2057400" y="5005776"/>
            <a:ext cx="3879415" cy="838200"/>
          </a:xfrm>
          <a:prstGeom prst="rect">
            <a:avLst/>
          </a:prstGeom>
          <a:noFill/>
        </p:spPr>
        <p:txBody>
          <a:bodyPr wrap="square" rtlCol="0">
            <a:noAutofit/>
          </a:bodyPr>
          <a:lstStyle/>
          <a:p>
            <a:pPr algn="ctr"/>
            <a:r>
              <a:rPr lang="en-US" sz="4000" b="1" dirty="0">
                <a:latin typeface="Tahoma" panose="020B0604030504040204" pitchFamily="34" charset="0"/>
                <a:cs typeface="Tahoma" panose="020B0604030504040204" pitchFamily="34" charset="0"/>
              </a:rPr>
              <a:t>NỘI DUNG</a:t>
            </a:r>
          </a:p>
        </p:txBody>
      </p:sp>
      <p:grpSp>
        <p:nvGrpSpPr>
          <p:cNvPr id="52" name="Group 51"/>
          <p:cNvGrpSpPr/>
          <p:nvPr/>
        </p:nvGrpSpPr>
        <p:grpSpPr>
          <a:xfrm>
            <a:off x="9296400" y="2230120"/>
            <a:ext cx="6858000" cy="1167484"/>
            <a:chOff x="6818260" y="889500"/>
            <a:chExt cx="4790011" cy="926436"/>
          </a:xfrm>
        </p:grpSpPr>
        <p:sp>
          <p:nvSpPr>
            <p:cNvPr id="53" name="任意多边形 96"/>
            <p:cNvSpPr/>
            <p:nvPr>
              <p:custDataLst>
                <p:tags r:id="rId7"/>
              </p:custDataLst>
            </p:nvPr>
          </p:nvSpPr>
          <p:spPr>
            <a:xfrm>
              <a:off x="7198888" y="1006235"/>
              <a:ext cx="4409383"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Lý</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thuyết</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54" name="椭圆 29"/>
            <p:cNvSpPr/>
            <p:nvPr>
              <p:custDataLst>
                <p:tags r:id="rId8"/>
              </p:custDataLst>
            </p:nvPr>
          </p:nvSpPr>
          <p:spPr>
            <a:xfrm>
              <a:off x="6818260" y="889500"/>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A</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55" name="Group 54"/>
          <p:cNvGrpSpPr/>
          <p:nvPr/>
        </p:nvGrpSpPr>
        <p:grpSpPr>
          <a:xfrm>
            <a:off x="9296400" y="3887742"/>
            <a:ext cx="6858000" cy="1118033"/>
            <a:chOff x="6817679" y="2697925"/>
            <a:chExt cx="4871260" cy="926436"/>
          </a:xfrm>
        </p:grpSpPr>
        <p:sp>
          <p:nvSpPr>
            <p:cNvPr id="56" name="任意多边形 96"/>
            <p:cNvSpPr/>
            <p:nvPr>
              <p:custDataLst>
                <p:tags r:id="rId5"/>
              </p:custDataLst>
            </p:nvPr>
          </p:nvSpPr>
          <p:spPr>
            <a:xfrm>
              <a:off x="7279556" y="2818415"/>
              <a:ext cx="4409383"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Quá</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trình</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thực</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hiện</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57" name="椭圆 31"/>
            <p:cNvSpPr/>
            <p:nvPr>
              <p:custDataLst>
                <p:tags r:id="rId6"/>
              </p:custDataLst>
            </p:nvPr>
          </p:nvSpPr>
          <p:spPr>
            <a:xfrm>
              <a:off x="6817679" y="2697925"/>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B</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58" name="Group 57"/>
          <p:cNvGrpSpPr/>
          <p:nvPr/>
        </p:nvGrpSpPr>
        <p:grpSpPr>
          <a:xfrm>
            <a:off x="9296400" y="5424876"/>
            <a:ext cx="6858000" cy="1166424"/>
            <a:chOff x="6817998" y="4506384"/>
            <a:chExt cx="4870942" cy="926436"/>
          </a:xfrm>
        </p:grpSpPr>
        <p:sp>
          <p:nvSpPr>
            <p:cNvPr id="59" name="任意多边形 96"/>
            <p:cNvSpPr/>
            <p:nvPr>
              <p:custDataLst>
                <p:tags r:id="rId3"/>
              </p:custDataLst>
            </p:nvPr>
          </p:nvSpPr>
          <p:spPr>
            <a:xfrm>
              <a:off x="7353701" y="4626840"/>
              <a:ext cx="4335239"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Kết</a:t>
              </a:r>
              <a:r>
                <a:rPr lang="en-US" altLang="zh-CN" sz="2400" dirty="0"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quả</a:t>
              </a:r>
              <a:r>
                <a:rPr lang="en-US" altLang="zh-CN" sz="2400" dirty="0"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nghiên</a:t>
              </a:r>
              <a:r>
                <a:rPr lang="en-US" altLang="zh-CN" sz="2400" dirty="0"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cứu</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60" name="椭圆 33"/>
            <p:cNvSpPr/>
            <p:nvPr>
              <p:custDataLst>
                <p:tags r:id="rId4"/>
              </p:custDataLst>
            </p:nvPr>
          </p:nvSpPr>
          <p:spPr>
            <a:xfrm>
              <a:off x="6817998" y="4506384"/>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C</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61" name="Group 60"/>
          <p:cNvGrpSpPr/>
          <p:nvPr/>
        </p:nvGrpSpPr>
        <p:grpSpPr>
          <a:xfrm>
            <a:off x="9296400" y="7010314"/>
            <a:ext cx="6858000" cy="1153360"/>
            <a:chOff x="6817998" y="4506384"/>
            <a:chExt cx="4870942" cy="926436"/>
          </a:xfrm>
        </p:grpSpPr>
        <p:sp>
          <p:nvSpPr>
            <p:cNvPr id="62" name="任意多边形 96"/>
            <p:cNvSpPr/>
            <p:nvPr>
              <p:custDataLst>
                <p:tags r:id="rId1"/>
              </p:custDataLst>
            </p:nvPr>
          </p:nvSpPr>
          <p:spPr>
            <a:xfrm>
              <a:off x="7353701" y="4626840"/>
              <a:ext cx="4335239"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fontScale="97500"/>
            </a:bodyPr>
            <a:lstStyle/>
            <a:p>
              <a:pPr algn="ctr">
                <a:defRPr/>
              </a:pP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Kết luận và hướng phát triển</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a:t>
              </a:r>
            </a:p>
          </p:txBody>
        </p:sp>
        <p:sp>
          <p:nvSpPr>
            <p:cNvPr id="63" name="椭圆 33"/>
            <p:cNvSpPr/>
            <p:nvPr>
              <p:custDataLst>
                <p:tags r:id="rId2"/>
              </p:custDataLst>
            </p:nvPr>
          </p:nvSpPr>
          <p:spPr>
            <a:xfrm>
              <a:off x="6817998" y="4506384"/>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D</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fade">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172836" y="1282598"/>
            <a:ext cx="10148426" cy="10148426"/>
            <a:chOff x="0" y="0"/>
            <a:chExt cx="6350000" cy="6350000"/>
          </a:xfrm>
        </p:grpSpPr>
        <p:sp>
          <p:nvSpPr>
            <p:cNvPr id="3" name="Freeform 3"/>
            <p:cNvSpPr/>
            <p:nvPr/>
          </p:nvSpPr>
          <p:spPr>
            <a:xfrm>
              <a:off x="0" y="0"/>
              <a:ext cx="6350000" cy="6350000"/>
            </a:xfrm>
            <a:custGeom>
              <a:avLst/>
              <a:gdLst/>
              <a:ahLst/>
              <a:cxnLst/>
              <a:rect l="l" t="t" r="r" b="b"/>
              <a:pathLst>
                <a:path w="6350000" h="6350000">
                  <a:moveTo>
                    <a:pt x="5715000" y="6350000"/>
                  </a:moveTo>
                  <a:lnTo>
                    <a:pt x="635000" y="6350000"/>
                  </a:lnTo>
                  <a:cubicBezTo>
                    <a:pt x="284480" y="6350000"/>
                    <a:pt x="0" y="6065520"/>
                    <a:pt x="0" y="5715000"/>
                  </a:cubicBezTo>
                  <a:lnTo>
                    <a:pt x="0" y="635000"/>
                  </a:lnTo>
                  <a:cubicBezTo>
                    <a:pt x="0" y="284480"/>
                    <a:pt x="284480" y="0"/>
                    <a:pt x="635000" y="0"/>
                  </a:cubicBezTo>
                  <a:lnTo>
                    <a:pt x="5715000" y="0"/>
                  </a:lnTo>
                  <a:cubicBezTo>
                    <a:pt x="6065520" y="0"/>
                    <a:pt x="6350000" y="284480"/>
                    <a:pt x="6350000" y="635000"/>
                  </a:cubicBezTo>
                  <a:lnTo>
                    <a:pt x="6350000" y="5715000"/>
                  </a:lnTo>
                  <a:cubicBezTo>
                    <a:pt x="6350000" y="6065520"/>
                    <a:pt x="6065520" y="6350000"/>
                    <a:pt x="5715000" y="6350000"/>
                  </a:cubicBezTo>
                  <a:close/>
                </a:path>
              </a:pathLst>
            </a:custGeom>
            <a:blipFill>
              <a:blip r:embed="rId4"/>
              <a:stretch>
                <a:fillRect l="-30604" r="-19489"/>
              </a:stretch>
            </a:blipFill>
          </p:spPr>
        </p:sp>
      </p:grpSp>
      <p:grpSp>
        <p:nvGrpSpPr>
          <p:cNvPr id="17" name="Group 16"/>
          <p:cNvGrpSpPr/>
          <p:nvPr/>
        </p:nvGrpSpPr>
        <p:grpSpPr>
          <a:xfrm>
            <a:off x="9204774" y="210436"/>
            <a:ext cx="6517128" cy="1167484"/>
            <a:chOff x="7137594" y="-325607"/>
            <a:chExt cx="4551927" cy="926436"/>
          </a:xfrm>
        </p:grpSpPr>
        <p:sp>
          <p:nvSpPr>
            <p:cNvPr id="18" name="任意多边形 96"/>
            <p:cNvSpPr/>
            <p:nvPr>
              <p:custDataLst>
                <p:tags r:id="rId1"/>
              </p:custDataLst>
            </p:nvPr>
          </p:nvSpPr>
          <p:spPr>
            <a:xfrm>
              <a:off x="7280138" y="-205117"/>
              <a:ext cx="4409383"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Lý</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thuyết</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19" name="椭圆 29"/>
            <p:cNvSpPr/>
            <p:nvPr>
              <p:custDataLst>
                <p:tags r:id="rId2"/>
              </p:custDataLst>
            </p:nvPr>
          </p:nvSpPr>
          <p:spPr>
            <a:xfrm>
              <a:off x="7137594" y="-325607"/>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A</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sp>
        <p:nvSpPr>
          <p:cNvPr id="20" name="Rectangle 19"/>
          <p:cNvSpPr/>
          <p:nvPr/>
        </p:nvSpPr>
        <p:spPr>
          <a:xfrm>
            <a:off x="10981068" y="3903439"/>
            <a:ext cx="7301616" cy="3170099"/>
          </a:xfrm>
          <a:prstGeom prst="rect">
            <a:avLst/>
          </a:prstGeom>
        </p:spPr>
        <p:txBody>
          <a:bodyPr wrap="square">
            <a:spAutoFit/>
          </a:bodyPr>
          <a:lstStyle/>
          <a:p>
            <a:r>
              <a:rPr lang="vi-VN" sz="4000" b="1">
                <a:solidFill>
                  <a:srgbClr val="000000"/>
                </a:solidFill>
                <a:latin typeface="Cabin Bold" panose="020B0604020202020204" charset="0"/>
              </a:rPr>
              <a:t/>
            </a:r>
            <a:br>
              <a:rPr lang="vi-VN" sz="4000" b="1">
                <a:solidFill>
                  <a:srgbClr val="000000"/>
                </a:solidFill>
                <a:latin typeface="Cabin Bold" panose="020B0604020202020204" charset="0"/>
              </a:rPr>
            </a:br>
            <a:r>
              <a:rPr lang="vi-VN" sz="4000" b="1">
                <a:solidFill>
                  <a:srgbClr val="000000"/>
                </a:solidFill>
                <a:latin typeface="Cabin Bold" panose="020B0604020202020204" charset="0"/>
              </a:rPr>
              <a:t>Mua sắm trực tuyến phát triển</a:t>
            </a:r>
            <a:r>
              <a:rPr lang="vi-VN" sz="4000" b="1">
                <a:solidFill>
                  <a:srgbClr val="000000"/>
                </a:solidFill>
                <a:latin typeface="Cabin Bold" panose="020B0604020202020204" charset="0"/>
              </a:rPr>
              <a:t/>
            </a:r>
            <a:br>
              <a:rPr lang="vi-VN" sz="4000" b="1">
                <a:solidFill>
                  <a:srgbClr val="000000"/>
                </a:solidFill>
                <a:latin typeface="Cabin Bold" panose="020B0604020202020204" charset="0"/>
              </a:rPr>
            </a:br>
            <a:endParaRPr lang="en-US" sz="4000" b="1" smtClean="0">
              <a:solidFill>
                <a:srgbClr val="000000"/>
              </a:solidFill>
              <a:latin typeface="Cabin Bold" panose="020B0604020202020204" charset="0"/>
            </a:endParaRPr>
          </a:p>
          <a:p>
            <a:r>
              <a:rPr lang="vi-VN" sz="4000">
                <a:latin typeface="Cabin Bold" panose="020B0604020202020204" charset="0"/>
              </a:rPr>
              <a:t/>
            </a:r>
            <a:br>
              <a:rPr lang="vi-VN" sz="4000">
                <a:latin typeface="Cabin Bold" panose="020B0604020202020204" charset="0"/>
              </a:rPr>
            </a:br>
            <a:endParaRPr lang="en-US" sz="4000">
              <a:latin typeface="Cabin Bold" panose="020B0604020202020204" charset="0"/>
            </a:endParaRPr>
          </a:p>
        </p:txBody>
      </p:sp>
      <p:pic>
        <p:nvPicPr>
          <p:cNvPr id="21" name="Picture 20"/>
          <p:cNvPicPr>
            <a:picLocks noChangeAspect="1"/>
          </p:cNvPicPr>
          <p:nvPr/>
        </p:nvPicPr>
        <p:blipFill rotWithShape="1">
          <a:blip r:embed="rId5"/>
          <a:srcRect l="9094" t="12500" r="8298" b="12500"/>
          <a:stretch/>
        </p:blipFill>
        <p:spPr>
          <a:xfrm>
            <a:off x="9182620" y="2659603"/>
            <a:ext cx="1447800" cy="1371600"/>
          </a:xfrm>
          <a:prstGeom prst="rect">
            <a:avLst/>
          </a:prstGeom>
        </p:spPr>
      </p:pic>
      <p:pic>
        <p:nvPicPr>
          <p:cNvPr id="25" name="Picture 24"/>
          <p:cNvPicPr>
            <a:picLocks noChangeAspect="1"/>
          </p:cNvPicPr>
          <p:nvPr/>
        </p:nvPicPr>
        <p:blipFill>
          <a:blip r:embed="rId6"/>
          <a:stretch>
            <a:fillRect/>
          </a:stretch>
        </p:blipFill>
        <p:spPr>
          <a:xfrm>
            <a:off x="9204774" y="4478754"/>
            <a:ext cx="1425646" cy="987912"/>
          </a:xfrm>
          <a:prstGeom prst="rect">
            <a:avLst/>
          </a:prstGeom>
        </p:spPr>
      </p:pic>
      <p:pic>
        <p:nvPicPr>
          <p:cNvPr id="26" name="Picture 25"/>
          <p:cNvPicPr>
            <a:picLocks noChangeAspect="1"/>
          </p:cNvPicPr>
          <p:nvPr/>
        </p:nvPicPr>
        <p:blipFill>
          <a:blip r:embed="rId7"/>
          <a:stretch>
            <a:fillRect/>
          </a:stretch>
        </p:blipFill>
        <p:spPr>
          <a:xfrm>
            <a:off x="9123798" y="5806295"/>
            <a:ext cx="1724466" cy="1447800"/>
          </a:xfrm>
          <a:prstGeom prst="rect">
            <a:avLst/>
          </a:prstGeom>
        </p:spPr>
      </p:pic>
      <p:sp>
        <p:nvSpPr>
          <p:cNvPr id="27" name="Rectangle 26"/>
          <p:cNvSpPr/>
          <p:nvPr/>
        </p:nvSpPr>
        <p:spPr>
          <a:xfrm>
            <a:off x="10869529" y="2887524"/>
            <a:ext cx="6648157" cy="707886"/>
          </a:xfrm>
          <a:prstGeom prst="rect">
            <a:avLst/>
          </a:prstGeom>
        </p:spPr>
        <p:txBody>
          <a:bodyPr wrap="square">
            <a:spAutoFit/>
          </a:bodyPr>
          <a:lstStyle/>
          <a:p>
            <a:r>
              <a:rPr lang="vi-VN" sz="4000" b="1">
                <a:solidFill>
                  <a:srgbClr val="000000"/>
                </a:solidFill>
                <a:latin typeface="Cabin Bold" panose="020B0604020202020204" charset="0"/>
              </a:rPr>
              <a:t>Nhu cầu thị trường cao</a:t>
            </a:r>
            <a:endParaRPr lang="en-US" sz="4000" b="1">
              <a:solidFill>
                <a:srgbClr val="000000"/>
              </a:solidFill>
              <a:latin typeface="Cabin Bold" panose="020B0604020202020204" charset="0"/>
            </a:endParaRPr>
          </a:p>
        </p:txBody>
      </p:sp>
      <p:sp>
        <p:nvSpPr>
          <p:cNvPr id="29" name="Rectangle 28"/>
          <p:cNvSpPr/>
          <p:nvPr/>
        </p:nvSpPr>
        <p:spPr>
          <a:xfrm>
            <a:off x="11076170" y="5750099"/>
            <a:ext cx="9144000" cy="1323439"/>
          </a:xfrm>
          <a:prstGeom prst="rect">
            <a:avLst/>
          </a:prstGeom>
        </p:spPr>
        <p:txBody>
          <a:bodyPr>
            <a:spAutoFit/>
          </a:bodyPr>
          <a:lstStyle/>
          <a:p>
            <a:r>
              <a:rPr lang="vi-VN" sz="4000" b="1">
                <a:solidFill>
                  <a:srgbClr val="000000"/>
                </a:solidFill>
                <a:latin typeface="Cabin Bold" panose="020B0604020202020204" charset="0"/>
              </a:rPr>
              <a:t>Dễ dàng quản lý và</a:t>
            </a:r>
            <a:br>
              <a:rPr lang="vi-VN" sz="4000" b="1">
                <a:solidFill>
                  <a:srgbClr val="000000"/>
                </a:solidFill>
                <a:latin typeface="Cabin Bold" panose="020B0604020202020204" charset="0"/>
              </a:rPr>
            </a:br>
            <a:r>
              <a:rPr lang="vi-VN" sz="4000" b="1">
                <a:solidFill>
                  <a:srgbClr val="000000"/>
                </a:solidFill>
                <a:latin typeface="Cabin Bold" panose="020B0604020202020204" charset="0"/>
              </a:rPr>
              <a:t>tối ưu quy trình bán hàng.</a:t>
            </a:r>
            <a:r>
              <a:rPr lang="vi-VN" sz="4000">
                <a:latin typeface="Cabin Bold" panose="020B0604020202020204" charset="0"/>
              </a:rPr>
              <a:t> </a:t>
            </a:r>
            <a:endParaRPr lang="en-US" sz="4000"/>
          </a:p>
        </p:txBody>
      </p:sp>
      <p:sp>
        <p:nvSpPr>
          <p:cNvPr id="30" name="Rectangle 29"/>
          <p:cNvSpPr/>
          <p:nvPr/>
        </p:nvSpPr>
        <p:spPr>
          <a:xfrm>
            <a:off x="9123798" y="1570343"/>
            <a:ext cx="4883068" cy="707886"/>
          </a:xfrm>
          <a:prstGeom prst="rect">
            <a:avLst/>
          </a:prstGeom>
        </p:spPr>
        <p:txBody>
          <a:bodyPr wrap="none">
            <a:spAutoFit/>
          </a:bodyPr>
          <a:lstStyle/>
          <a:p>
            <a:r>
              <a:rPr lang="en-US" sz="4000">
                <a:latin typeface="Tahoma" panose="020B0604030504040204" pitchFamily="34" charset="0"/>
                <a:cs typeface="Tahoma" panose="020B0604030504040204" pitchFamily="34" charset="0"/>
              </a:rPr>
              <a:t>1. Lý do chọn đề tài:</a:t>
            </a:r>
            <a:endParaRPr lang="en-US" sz="4000" dirty="0">
              <a:latin typeface="Tahoma" panose="020B0604030504040204" pitchFamily="34" charset="0"/>
              <a:cs typeface="Tahoma" panose="020B0604030504040204" pitchFamily="34"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barn(inVertical)">
                                      <p:cBhvr>
                                        <p:cTn id="11" dur="500"/>
                                        <p:tgtEl>
                                          <p:spTgt spid="30"/>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1000"/>
                                        <p:tgtEl>
                                          <p:spTgt spid="21"/>
                                        </p:tgtEl>
                                      </p:cBhvr>
                                    </p:animEffect>
                                    <p:anim calcmode="lin" valueType="num">
                                      <p:cBhvr>
                                        <p:cTn id="17" dur="1000" fill="hold"/>
                                        <p:tgtEl>
                                          <p:spTgt spid="21"/>
                                        </p:tgtEl>
                                        <p:attrNameLst>
                                          <p:attrName>ppt_x</p:attrName>
                                        </p:attrNameLst>
                                      </p:cBhvr>
                                      <p:tavLst>
                                        <p:tav tm="0">
                                          <p:val>
                                            <p:strVal val="#ppt_x"/>
                                          </p:val>
                                        </p:tav>
                                        <p:tav tm="100000">
                                          <p:val>
                                            <p:strVal val="#ppt_x"/>
                                          </p:val>
                                        </p:tav>
                                      </p:tavLst>
                                    </p:anim>
                                    <p:anim calcmode="lin" valueType="num">
                                      <p:cBhvr>
                                        <p:cTn id="18" dur="1000" fill="hold"/>
                                        <p:tgtEl>
                                          <p:spTgt spid="21"/>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1000"/>
                                        <p:tgtEl>
                                          <p:spTgt spid="27"/>
                                        </p:tgtEl>
                                      </p:cBhvr>
                                    </p:animEffect>
                                    <p:anim calcmode="lin" valueType="num">
                                      <p:cBhvr>
                                        <p:cTn id="22" dur="1000" fill="hold"/>
                                        <p:tgtEl>
                                          <p:spTgt spid="27"/>
                                        </p:tgtEl>
                                        <p:attrNameLst>
                                          <p:attrName>ppt_x</p:attrName>
                                        </p:attrNameLst>
                                      </p:cBhvr>
                                      <p:tavLst>
                                        <p:tav tm="0">
                                          <p:val>
                                            <p:strVal val="#ppt_x"/>
                                          </p:val>
                                        </p:tav>
                                        <p:tav tm="100000">
                                          <p:val>
                                            <p:strVal val="#ppt_x"/>
                                          </p:val>
                                        </p:tav>
                                      </p:tavLst>
                                    </p:anim>
                                    <p:anim calcmode="lin" valueType="num">
                                      <p:cBhvr>
                                        <p:cTn id="2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1000"/>
                                        <p:tgtEl>
                                          <p:spTgt spid="25"/>
                                        </p:tgtEl>
                                      </p:cBhvr>
                                    </p:animEffect>
                                    <p:anim calcmode="lin" valueType="num">
                                      <p:cBhvr>
                                        <p:cTn id="29" dur="1000" fill="hold"/>
                                        <p:tgtEl>
                                          <p:spTgt spid="25"/>
                                        </p:tgtEl>
                                        <p:attrNameLst>
                                          <p:attrName>ppt_x</p:attrName>
                                        </p:attrNameLst>
                                      </p:cBhvr>
                                      <p:tavLst>
                                        <p:tav tm="0">
                                          <p:val>
                                            <p:strVal val="#ppt_x"/>
                                          </p:val>
                                        </p:tav>
                                        <p:tav tm="100000">
                                          <p:val>
                                            <p:strVal val="#ppt_x"/>
                                          </p:val>
                                        </p:tav>
                                      </p:tavLst>
                                    </p:anim>
                                    <p:anim calcmode="lin" valueType="num">
                                      <p:cBhvr>
                                        <p:cTn id="30" dur="1000" fill="hold"/>
                                        <p:tgtEl>
                                          <p:spTgt spid="25"/>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1000"/>
                                        <p:tgtEl>
                                          <p:spTgt spid="20"/>
                                        </p:tgtEl>
                                      </p:cBhvr>
                                    </p:animEffect>
                                    <p:anim calcmode="lin" valueType="num">
                                      <p:cBhvr>
                                        <p:cTn id="34" dur="1000" fill="hold"/>
                                        <p:tgtEl>
                                          <p:spTgt spid="20"/>
                                        </p:tgtEl>
                                        <p:attrNameLst>
                                          <p:attrName>ppt_x</p:attrName>
                                        </p:attrNameLst>
                                      </p:cBhvr>
                                      <p:tavLst>
                                        <p:tav tm="0">
                                          <p:val>
                                            <p:strVal val="#ppt_x"/>
                                          </p:val>
                                        </p:tav>
                                        <p:tav tm="100000">
                                          <p:val>
                                            <p:strVal val="#ppt_x"/>
                                          </p:val>
                                        </p:tav>
                                      </p:tavLst>
                                    </p:anim>
                                    <p:anim calcmode="lin" valueType="num">
                                      <p:cBhvr>
                                        <p:cTn id="3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anim calcmode="lin" valueType="num">
                                      <p:cBhvr additive="base">
                                        <p:cTn id="44" dur="500" fill="hold"/>
                                        <p:tgtEl>
                                          <p:spTgt spid="29"/>
                                        </p:tgtEl>
                                        <p:attrNameLst>
                                          <p:attrName>ppt_x</p:attrName>
                                        </p:attrNameLst>
                                      </p:cBhvr>
                                      <p:tavLst>
                                        <p:tav tm="0">
                                          <p:val>
                                            <p:strVal val="#ppt_x"/>
                                          </p:val>
                                        </p:tav>
                                        <p:tav tm="100000">
                                          <p:val>
                                            <p:strVal val="#ppt_x"/>
                                          </p:val>
                                        </p:tav>
                                      </p:tavLst>
                                    </p:anim>
                                    <p:anim calcmode="lin" valueType="num">
                                      <p:cBhvr additive="base">
                                        <p:cTn id="45"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7" grpId="0"/>
      <p:bldP spid="29"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4" name="Group 23"/>
          <p:cNvGrpSpPr/>
          <p:nvPr/>
        </p:nvGrpSpPr>
        <p:grpSpPr>
          <a:xfrm>
            <a:off x="685800" y="876300"/>
            <a:ext cx="6517128" cy="1167484"/>
            <a:chOff x="7137594" y="-325607"/>
            <a:chExt cx="4551927" cy="926436"/>
          </a:xfrm>
        </p:grpSpPr>
        <p:sp>
          <p:nvSpPr>
            <p:cNvPr id="25" name="任意多边形 96"/>
            <p:cNvSpPr/>
            <p:nvPr>
              <p:custDataLst>
                <p:tags r:id="rId1"/>
              </p:custDataLst>
            </p:nvPr>
          </p:nvSpPr>
          <p:spPr>
            <a:xfrm>
              <a:off x="7280138" y="-205117"/>
              <a:ext cx="4409383"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Lý</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thuyết</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26" name="椭圆 29"/>
            <p:cNvSpPr/>
            <p:nvPr>
              <p:custDataLst>
                <p:tags r:id="rId2"/>
              </p:custDataLst>
            </p:nvPr>
          </p:nvSpPr>
          <p:spPr>
            <a:xfrm>
              <a:off x="7137594" y="-325607"/>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A</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pic>
        <p:nvPicPr>
          <p:cNvPr id="27" name="Picture 26"/>
          <p:cNvPicPr>
            <a:picLocks noChangeAspect="1"/>
          </p:cNvPicPr>
          <p:nvPr/>
        </p:nvPicPr>
        <p:blipFill>
          <a:blip r:embed="rId4"/>
          <a:stretch>
            <a:fillRect/>
          </a:stretch>
        </p:blipFill>
        <p:spPr>
          <a:xfrm>
            <a:off x="1066800" y="3695700"/>
            <a:ext cx="13938722" cy="5297583"/>
          </a:xfrm>
          <a:prstGeom prst="rect">
            <a:avLst/>
          </a:prstGeom>
        </p:spPr>
      </p:pic>
      <p:sp>
        <p:nvSpPr>
          <p:cNvPr id="28" name="Rectangle 27"/>
          <p:cNvSpPr/>
          <p:nvPr/>
        </p:nvSpPr>
        <p:spPr>
          <a:xfrm>
            <a:off x="1066800" y="2237776"/>
            <a:ext cx="4972836" cy="707886"/>
          </a:xfrm>
          <a:prstGeom prst="rect">
            <a:avLst/>
          </a:prstGeom>
        </p:spPr>
        <p:txBody>
          <a:bodyPr wrap="none">
            <a:spAutoFit/>
          </a:bodyPr>
          <a:lstStyle/>
          <a:p>
            <a:r>
              <a:rPr lang="en-US" sz="4000" smtClean="0">
                <a:latin typeface="Tahoma" panose="020B0604030504040204" pitchFamily="34" charset="0"/>
                <a:cs typeface="Tahoma" panose="020B0604030504040204" pitchFamily="34" charset="0"/>
              </a:rPr>
              <a:t>2. Kiến trúc hệ thống</a:t>
            </a:r>
            <a:endParaRPr lang="en-US" sz="4000" dirty="0">
              <a:latin typeface="Tahoma" panose="020B0604030504040204" pitchFamily="34" charset="0"/>
              <a:cs typeface="Tahoma" panose="020B0604030504040204" pitchFamily="34"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arn(inVertical)">
                                      <p:cBhvr>
                                        <p:cTn id="11" dur="500"/>
                                        <p:tgtEl>
                                          <p:spTgt spid="28"/>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1000"/>
                                        <p:tgtEl>
                                          <p:spTgt spid="27"/>
                                        </p:tgtEl>
                                      </p:cBhvr>
                                    </p:animEffect>
                                    <p:anim calcmode="lin" valueType="num">
                                      <p:cBhvr>
                                        <p:cTn id="17" dur="1000" fill="hold"/>
                                        <p:tgtEl>
                                          <p:spTgt spid="27"/>
                                        </p:tgtEl>
                                        <p:attrNameLst>
                                          <p:attrName>ppt_x</p:attrName>
                                        </p:attrNameLst>
                                      </p:cBhvr>
                                      <p:tavLst>
                                        <p:tav tm="0">
                                          <p:val>
                                            <p:strVal val="#ppt_x"/>
                                          </p:val>
                                        </p:tav>
                                        <p:tav tm="100000">
                                          <p:val>
                                            <p:strVal val="#ppt_x"/>
                                          </p:val>
                                        </p:tav>
                                      </p:tavLst>
                                    </p:anim>
                                    <p:anim calcmode="lin" valueType="num">
                                      <p:cBhvr>
                                        <p:cTn id="18"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4" name="TextBox 34"/>
          <p:cNvSpPr txBox="1"/>
          <p:nvPr/>
        </p:nvSpPr>
        <p:spPr>
          <a:xfrm>
            <a:off x="533400" y="-48957"/>
            <a:ext cx="15621000" cy="1437509"/>
          </a:xfrm>
          <a:prstGeom prst="rect">
            <a:avLst/>
          </a:prstGeom>
        </p:spPr>
        <p:txBody>
          <a:bodyPr wrap="square" lIns="0" tIns="0" rIns="0" bIns="0" rtlCol="0" anchor="t">
            <a:spAutoFit/>
          </a:bodyPr>
          <a:lstStyle/>
          <a:p>
            <a:pPr>
              <a:lnSpc>
                <a:spcPts val="13307"/>
              </a:lnSpc>
            </a:pPr>
            <a:r>
              <a:rPr lang="en-US" sz="5000">
                <a:latin typeface="Cabin Bold" panose="020B0604020202020204" charset="0"/>
                <a:ea typeface="Cabin"/>
                <a:cs typeface="Cabin"/>
                <a:sym typeface="Cabin"/>
              </a:rPr>
              <a:t>XÂY DỰNG WEBSITE BÁN THỦY HẢI SẢN</a:t>
            </a:r>
            <a:endParaRPr lang="en-US" sz="5000">
              <a:latin typeface="Cabin Bold" panose="020B0604020202020204" charset="0"/>
              <a:ea typeface="Cabin"/>
              <a:cs typeface="Cabin"/>
              <a:sym typeface="Cabin"/>
            </a:endParaRPr>
          </a:p>
        </p:txBody>
      </p:sp>
      <p:pic>
        <p:nvPicPr>
          <p:cNvPr id="47" name="图片 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5800" y="2247900"/>
            <a:ext cx="6237206" cy="6533887"/>
          </a:xfrm>
          <a:prstGeom prst="rect">
            <a:avLst/>
          </a:prstGeom>
        </p:spPr>
      </p:pic>
      <p:sp>
        <p:nvSpPr>
          <p:cNvPr id="48" name="Text Box 4"/>
          <p:cNvSpPr txBox="1"/>
          <p:nvPr/>
        </p:nvSpPr>
        <p:spPr>
          <a:xfrm>
            <a:off x="2057400" y="5005776"/>
            <a:ext cx="3879415" cy="838200"/>
          </a:xfrm>
          <a:prstGeom prst="rect">
            <a:avLst/>
          </a:prstGeom>
          <a:noFill/>
        </p:spPr>
        <p:txBody>
          <a:bodyPr wrap="square" rtlCol="0">
            <a:noAutofit/>
          </a:bodyPr>
          <a:lstStyle/>
          <a:p>
            <a:pPr algn="ctr"/>
            <a:r>
              <a:rPr lang="en-US" sz="4000" b="1" dirty="0">
                <a:latin typeface="Tahoma" panose="020B0604030504040204" pitchFamily="34" charset="0"/>
                <a:cs typeface="Tahoma" panose="020B0604030504040204" pitchFamily="34" charset="0"/>
              </a:rPr>
              <a:t>NỘI DUNG</a:t>
            </a:r>
          </a:p>
        </p:txBody>
      </p:sp>
      <p:grpSp>
        <p:nvGrpSpPr>
          <p:cNvPr id="52" name="Group 51"/>
          <p:cNvGrpSpPr/>
          <p:nvPr/>
        </p:nvGrpSpPr>
        <p:grpSpPr>
          <a:xfrm>
            <a:off x="9296400" y="2230120"/>
            <a:ext cx="6858000" cy="1167484"/>
            <a:chOff x="6818260" y="889500"/>
            <a:chExt cx="4790011" cy="926436"/>
          </a:xfrm>
        </p:grpSpPr>
        <p:sp>
          <p:nvSpPr>
            <p:cNvPr id="53" name="任意多边形 96"/>
            <p:cNvSpPr/>
            <p:nvPr>
              <p:custDataLst>
                <p:tags r:id="rId7"/>
              </p:custDataLst>
            </p:nvPr>
          </p:nvSpPr>
          <p:spPr>
            <a:xfrm>
              <a:off x="7198888" y="1006235"/>
              <a:ext cx="4409383"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Lý</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thuyết</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54" name="椭圆 29"/>
            <p:cNvSpPr/>
            <p:nvPr>
              <p:custDataLst>
                <p:tags r:id="rId8"/>
              </p:custDataLst>
            </p:nvPr>
          </p:nvSpPr>
          <p:spPr>
            <a:xfrm>
              <a:off x="6818260" y="889500"/>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A</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55" name="Group 54"/>
          <p:cNvGrpSpPr/>
          <p:nvPr/>
        </p:nvGrpSpPr>
        <p:grpSpPr>
          <a:xfrm>
            <a:off x="9296400" y="3887742"/>
            <a:ext cx="6858000" cy="1118033"/>
            <a:chOff x="6817679" y="2697925"/>
            <a:chExt cx="4871260" cy="926436"/>
          </a:xfrm>
        </p:grpSpPr>
        <p:sp>
          <p:nvSpPr>
            <p:cNvPr id="56" name="任意多边形 96"/>
            <p:cNvSpPr/>
            <p:nvPr>
              <p:custDataLst>
                <p:tags r:id="rId5"/>
              </p:custDataLst>
            </p:nvPr>
          </p:nvSpPr>
          <p:spPr>
            <a:xfrm>
              <a:off x="7279556" y="2818415"/>
              <a:ext cx="4409383"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Quá</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trình</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thực</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hiện</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57" name="椭圆 31"/>
            <p:cNvSpPr/>
            <p:nvPr>
              <p:custDataLst>
                <p:tags r:id="rId6"/>
              </p:custDataLst>
            </p:nvPr>
          </p:nvSpPr>
          <p:spPr>
            <a:xfrm>
              <a:off x="6817679" y="2697925"/>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B</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58" name="Group 57"/>
          <p:cNvGrpSpPr/>
          <p:nvPr/>
        </p:nvGrpSpPr>
        <p:grpSpPr>
          <a:xfrm>
            <a:off x="9296400" y="5424876"/>
            <a:ext cx="6858000" cy="1166424"/>
            <a:chOff x="6817998" y="4506384"/>
            <a:chExt cx="4870942" cy="926436"/>
          </a:xfrm>
        </p:grpSpPr>
        <p:sp>
          <p:nvSpPr>
            <p:cNvPr id="59" name="任意多边形 96"/>
            <p:cNvSpPr/>
            <p:nvPr>
              <p:custDataLst>
                <p:tags r:id="rId3"/>
              </p:custDataLst>
            </p:nvPr>
          </p:nvSpPr>
          <p:spPr>
            <a:xfrm>
              <a:off x="7353701" y="4626840"/>
              <a:ext cx="4335239"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Kết</a:t>
              </a:r>
              <a:r>
                <a:rPr lang="en-US" altLang="zh-CN" sz="2400" dirty="0"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quả</a:t>
              </a:r>
              <a:r>
                <a:rPr lang="en-US" altLang="zh-CN" sz="2400" dirty="0"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nghiên</a:t>
              </a:r>
              <a:r>
                <a:rPr lang="en-US" altLang="zh-CN" sz="2400" dirty="0"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cứu</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60" name="椭圆 33"/>
            <p:cNvSpPr/>
            <p:nvPr>
              <p:custDataLst>
                <p:tags r:id="rId4"/>
              </p:custDataLst>
            </p:nvPr>
          </p:nvSpPr>
          <p:spPr>
            <a:xfrm>
              <a:off x="6817998" y="4506384"/>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C</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61" name="Group 60"/>
          <p:cNvGrpSpPr/>
          <p:nvPr/>
        </p:nvGrpSpPr>
        <p:grpSpPr>
          <a:xfrm>
            <a:off x="9296400" y="7010314"/>
            <a:ext cx="6858000" cy="1153360"/>
            <a:chOff x="6817998" y="4506384"/>
            <a:chExt cx="4870942" cy="926436"/>
          </a:xfrm>
        </p:grpSpPr>
        <p:sp>
          <p:nvSpPr>
            <p:cNvPr id="62" name="任意多边形 96"/>
            <p:cNvSpPr/>
            <p:nvPr>
              <p:custDataLst>
                <p:tags r:id="rId1"/>
              </p:custDataLst>
            </p:nvPr>
          </p:nvSpPr>
          <p:spPr>
            <a:xfrm>
              <a:off x="7353701" y="4626840"/>
              <a:ext cx="4335239"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fontScale="97500"/>
            </a:bodyPr>
            <a:lstStyle/>
            <a:p>
              <a:pPr algn="ctr">
                <a:defRPr/>
              </a:pP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Kết luận và hướng phát triển</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a:t>
              </a:r>
            </a:p>
          </p:txBody>
        </p:sp>
        <p:sp>
          <p:nvSpPr>
            <p:cNvPr id="63" name="椭圆 33"/>
            <p:cNvSpPr/>
            <p:nvPr>
              <p:custDataLst>
                <p:tags r:id="rId2"/>
              </p:custDataLst>
            </p:nvPr>
          </p:nvSpPr>
          <p:spPr>
            <a:xfrm>
              <a:off x="6817998" y="4506384"/>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D</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spTree>
    <p:extLst>
      <p:ext uri="{BB962C8B-B14F-4D97-AF65-F5344CB8AC3E}">
        <p14:creationId xmlns:p14="http://schemas.microsoft.com/office/powerpoint/2010/main" val="35700971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5"/>
            <a:stretch>
              <a:fillRect t="-9259" b="-9259"/>
            </a:stretch>
          </a:blipFill>
        </p:spPr>
      </p:sp>
      <p:sp>
        <p:nvSpPr>
          <p:cNvPr id="6" name="Freeform 6"/>
          <p:cNvSpPr/>
          <p:nvPr/>
        </p:nvSpPr>
        <p:spPr>
          <a:xfrm rot="543904">
            <a:off x="-940728" y="8061713"/>
            <a:ext cx="10103966" cy="8156656"/>
          </a:xfrm>
          <a:custGeom>
            <a:avLst/>
            <a:gdLst/>
            <a:ahLst/>
            <a:cxnLst/>
            <a:rect l="l" t="t" r="r" b="b"/>
            <a:pathLst>
              <a:path w="10103966" h="8156656">
                <a:moveTo>
                  <a:pt x="0" y="0"/>
                </a:moveTo>
                <a:lnTo>
                  <a:pt x="10103966" y="0"/>
                </a:lnTo>
                <a:lnTo>
                  <a:pt x="10103966" y="8156656"/>
                </a:lnTo>
                <a:lnTo>
                  <a:pt x="0" y="8156656"/>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9" name="Freeform 19"/>
          <p:cNvSpPr/>
          <p:nvPr/>
        </p:nvSpPr>
        <p:spPr>
          <a:xfrm rot="2159446">
            <a:off x="13111917" y="-3539846"/>
            <a:ext cx="7814506" cy="6308438"/>
          </a:xfrm>
          <a:custGeom>
            <a:avLst/>
            <a:gdLst/>
            <a:ahLst/>
            <a:cxnLst/>
            <a:rect l="l" t="t" r="r" b="b"/>
            <a:pathLst>
              <a:path w="7814506" h="6308438">
                <a:moveTo>
                  <a:pt x="0" y="0"/>
                </a:moveTo>
                <a:lnTo>
                  <a:pt x="7814506" y="0"/>
                </a:lnTo>
                <a:lnTo>
                  <a:pt x="7814506" y="6308437"/>
                </a:lnTo>
                <a:lnTo>
                  <a:pt x="0" y="6308437"/>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26" name="Freeform 26"/>
          <p:cNvSpPr/>
          <p:nvPr/>
        </p:nvSpPr>
        <p:spPr>
          <a:xfrm>
            <a:off x="1028700" y="1028700"/>
            <a:ext cx="475127" cy="489363"/>
          </a:xfrm>
          <a:custGeom>
            <a:avLst/>
            <a:gdLst/>
            <a:ahLst/>
            <a:cxnLst/>
            <a:rect l="l" t="t" r="r" b="b"/>
            <a:pathLst>
              <a:path w="633503" h="652485">
                <a:moveTo>
                  <a:pt x="0" y="0"/>
                </a:moveTo>
                <a:lnTo>
                  <a:pt x="633503" y="0"/>
                </a:lnTo>
                <a:lnTo>
                  <a:pt x="633503" y="652485"/>
                </a:lnTo>
                <a:lnTo>
                  <a:pt x="0" y="652485"/>
                </a:lnTo>
                <a:lnTo>
                  <a:pt x="0" y="0"/>
                </a:lnTo>
                <a:close/>
              </a:path>
            </a:pathLst>
          </a:custGeom>
          <a:blipFill>
            <a:blip r:embed="rId8">
              <a:extLst>
                <a:ext uri="{96DAC541-7B7A-43D3-8B79-37D633B846F1}">
                  <asvg:svgBlip xmlns:asvg="http://schemas.microsoft.com/office/drawing/2016/SVG/main" xmlns="" r:embed="rId11"/>
                </a:ext>
              </a:extLst>
            </a:blip>
            <a:stretch>
              <a:fillRect/>
            </a:stretch>
          </a:blipFill>
        </p:spPr>
      </p:sp>
      <p:grpSp>
        <p:nvGrpSpPr>
          <p:cNvPr id="27" name="Group 26"/>
          <p:cNvGrpSpPr/>
          <p:nvPr/>
        </p:nvGrpSpPr>
        <p:grpSpPr>
          <a:xfrm>
            <a:off x="736795" y="640166"/>
            <a:ext cx="6858000" cy="1118033"/>
            <a:chOff x="6817679" y="2697925"/>
            <a:chExt cx="4871260" cy="926436"/>
          </a:xfrm>
        </p:grpSpPr>
        <p:sp>
          <p:nvSpPr>
            <p:cNvPr id="28" name="任意多边形 96"/>
            <p:cNvSpPr/>
            <p:nvPr>
              <p:custDataLst>
                <p:tags r:id="rId1"/>
              </p:custDataLst>
            </p:nvPr>
          </p:nvSpPr>
          <p:spPr>
            <a:xfrm>
              <a:off x="7279556" y="2818415"/>
              <a:ext cx="4409383"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Quá</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trình</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thực</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hiện</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29" name="椭圆 31"/>
            <p:cNvSpPr/>
            <p:nvPr>
              <p:custDataLst>
                <p:tags r:id="rId2"/>
              </p:custDataLst>
            </p:nvPr>
          </p:nvSpPr>
          <p:spPr>
            <a:xfrm>
              <a:off x="6817679" y="2697925"/>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B</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30" name="Group 29">
            <a:extLst>
              <a:ext uri="{FF2B5EF4-FFF2-40B4-BE49-F238E27FC236}">
                <a16:creationId xmlns:a16="http://schemas.microsoft.com/office/drawing/2014/main" id="{DF9158B2-93F0-945A-A4D6-6908F7A0222A}"/>
              </a:ext>
            </a:extLst>
          </p:cNvPr>
          <p:cNvGrpSpPr/>
          <p:nvPr/>
        </p:nvGrpSpPr>
        <p:grpSpPr>
          <a:xfrm>
            <a:off x="736795" y="2658481"/>
            <a:ext cx="2124710" cy="5191125"/>
            <a:chOff x="714375" y="1535430"/>
            <a:chExt cx="2124710" cy="5191125"/>
          </a:xfrm>
        </p:grpSpPr>
        <p:pic>
          <p:nvPicPr>
            <p:cNvPr id="31" name="Picture 30"/>
            <p:cNvPicPr>
              <a:picLocks noChangeAspect="1"/>
            </p:cNvPicPr>
            <p:nvPr/>
          </p:nvPicPr>
          <p:blipFill>
            <a:blip r:embed="rId12"/>
            <a:stretch>
              <a:fillRect/>
            </a:stretch>
          </p:blipFill>
          <p:spPr>
            <a:xfrm>
              <a:off x="873760" y="1535430"/>
              <a:ext cx="1753870" cy="1753870"/>
            </a:xfrm>
            <a:prstGeom prst="rect">
              <a:avLst/>
            </a:prstGeom>
          </p:spPr>
        </p:pic>
        <p:grpSp>
          <p:nvGrpSpPr>
            <p:cNvPr id="32" name="Group 31"/>
            <p:cNvGrpSpPr/>
            <p:nvPr/>
          </p:nvGrpSpPr>
          <p:grpSpPr>
            <a:xfrm>
              <a:off x="874395" y="3289300"/>
              <a:ext cx="1752600" cy="1372235"/>
              <a:chOff x="1377" y="5180"/>
              <a:chExt cx="2760" cy="2161"/>
            </a:xfrm>
          </p:grpSpPr>
          <p:sp>
            <p:nvSpPr>
              <p:cNvPr id="36" name="文本框 55"/>
              <p:cNvSpPr>
                <a:spLocks noChangeArrowheads="1"/>
              </p:cNvSpPr>
              <p:nvPr/>
            </p:nvSpPr>
            <p:spPr bwMode="auto">
              <a:xfrm>
                <a:off x="1377" y="6063"/>
                <a:ext cx="2761"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1300">
                    <a:solidFill>
                      <a:schemeClr val="tx1"/>
                    </a:solidFill>
                    <a:latin typeface="Arial" panose="020B0604020202020204" pitchFamily="34" charset="0"/>
                    <a:ea typeface="SimSun" panose="02010600030101010101" pitchFamily="2" charset="-122"/>
                  </a:defRPr>
                </a:lvl1pPr>
                <a:lvl2pPr marL="742950" indent="-285750">
                  <a:defRPr sz="1300">
                    <a:solidFill>
                      <a:schemeClr val="tx1"/>
                    </a:solidFill>
                    <a:latin typeface="Arial" panose="020B0604020202020204" pitchFamily="34" charset="0"/>
                    <a:ea typeface="SimSun" panose="02010600030101010101" pitchFamily="2" charset="-122"/>
                  </a:defRPr>
                </a:lvl2pPr>
                <a:lvl3pPr marL="1143000" indent="-228600">
                  <a:defRPr sz="1300">
                    <a:solidFill>
                      <a:schemeClr val="tx1"/>
                    </a:solidFill>
                    <a:latin typeface="Arial" panose="020B0604020202020204" pitchFamily="34" charset="0"/>
                    <a:ea typeface="SimSun" panose="02010600030101010101" pitchFamily="2" charset="-122"/>
                  </a:defRPr>
                </a:lvl3pPr>
                <a:lvl4pPr marL="1600200" indent="-228600">
                  <a:defRPr sz="1300">
                    <a:solidFill>
                      <a:schemeClr val="tx1"/>
                    </a:solidFill>
                    <a:latin typeface="Arial" panose="020B0604020202020204" pitchFamily="34" charset="0"/>
                    <a:ea typeface="SimSun" panose="02010600030101010101" pitchFamily="2" charset="-122"/>
                  </a:defRPr>
                </a:lvl4pPr>
                <a:lvl5pPr marL="2057400" indent="-228600">
                  <a:defRPr sz="1300">
                    <a:solidFill>
                      <a:schemeClr val="tx1"/>
                    </a:solidFill>
                    <a:latin typeface="Arial" panose="020B0604020202020204" pitchFamily="34" charset="0"/>
                    <a:ea typeface="SimSun"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9pPr>
              </a:lstStyle>
              <a:p>
                <a:pPr algn="ctr" eaLnBrk="1" hangingPunct="1">
                  <a:buFont typeface="Arial" panose="020B0604020202020204" pitchFamily="34" charset="0"/>
                  <a:buNone/>
                </a:pPr>
                <a:r>
                  <a:rPr lang="en-US" altLang="zh-CN" sz="2000" dirty="0" err="1" smtClean="0">
                    <a:solidFill>
                      <a:schemeClr val="bg1"/>
                    </a:solidFill>
                    <a:latin typeface="Tahoma" panose="020B0604030504040204" pitchFamily="34" charset="0"/>
                    <a:ea typeface="华文细黑" panose="02010600040101010101" pitchFamily="2" charset="-122"/>
                    <a:cs typeface="Tahoma" panose="020B0604030504040204" pitchFamily="34" charset="0"/>
                    <a:sym typeface="HelveticaNeueLT Pro 67 MdCn" pitchFamily="2" charset="-122"/>
                  </a:rPr>
                  <a:t>Lên</a:t>
                </a:r>
                <a:r>
                  <a:rPr lang="en-US" altLang="zh-CN" sz="2000" dirty="0" smtClean="0">
                    <a:solidFill>
                      <a:schemeClr val="bg1"/>
                    </a:solidFill>
                    <a:latin typeface="Tahoma" panose="020B0604030504040204" pitchFamily="34" charset="0"/>
                    <a:ea typeface="华文细黑" panose="02010600040101010101" pitchFamily="2" charset="-122"/>
                    <a:cs typeface="Tahoma" panose="020B0604030504040204" pitchFamily="34" charset="0"/>
                    <a:sym typeface="HelveticaNeueLT Pro 67 MdCn" pitchFamily="2" charset="-122"/>
                  </a:rPr>
                  <a:t> </a:t>
                </a:r>
                <a:r>
                  <a:rPr lang="en-US" altLang="zh-CN" sz="2000" dirty="0" err="1" smtClean="0">
                    <a:solidFill>
                      <a:schemeClr val="bg1"/>
                    </a:solidFill>
                    <a:latin typeface="Tahoma" panose="020B0604030504040204" pitchFamily="34" charset="0"/>
                    <a:ea typeface="华文细黑" panose="02010600040101010101" pitchFamily="2" charset="-122"/>
                    <a:cs typeface="Tahoma" panose="020B0604030504040204" pitchFamily="34" charset="0"/>
                    <a:sym typeface="HelveticaNeueLT Pro 67 MdCn" pitchFamily="2" charset="-122"/>
                  </a:rPr>
                  <a:t>kế</a:t>
                </a:r>
                <a:r>
                  <a:rPr lang="en-US" altLang="zh-CN" sz="2000" dirty="0" smtClean="0">
                    <a:solidFill>
                      <a:schemeClr val="bg1"/>
                    </a:solidFill>
                    <a:latin typeface="Tahoma" panose="020B0604030504040204" pitchFamily="34" charset="0"/>
                    <a:ea typeface="华文细黑" panose="02010600040101010101" pitchFamily="2" charset="-122"/>
                    <a:cs typeface="Tahoma" panose="020B0604030504040204" pitchFamily="34" charset="0"/>
                    <a:sym typeface="HelveticaNeueLT Pro 67 MdCn" pitchFamily="2" charset="-122"/>
                  </a:rPr>
                  <a:t> </a:t>
                </a:r>
                <a:r>
                  <a:rPr lang="en-US" altLang="zh-CN" sz="2000" dirty="0" err="1" smtClean="0">
                    <a:solidFill>
                      <a:schemeClr val="bg1"/>
                    </a:solidFill>
                    <a:latin typeface="Tahoma" panose="020B0604030504040204" pitchFamily="34" charset="0"/>
                    <a:ea typeface="华文细黑" panose="02010600040101010101" pitchFamily="2" charset="-122"/>
                    <a:cs typeface="Tahoma" panose="020B0604030504040204" pitchFamily="34" charset="0"/>
                    <a:sym typeface="HelveticaNeueLT Pro 67 MdCn" pitchFamily="2" charset="-122"/>
                  </a:rPr>
                  <a:t>hoạch</a:t>
                </a:r>
                <a:endParaRPr lang="en-US" altLang="zh-CN" sz="2000" dirty="0">
                  <a:solidFill>
                    <a:schemeClr val="bg1"/>
                  </a:solidFill>
                  <a:latin typeface="Tahoma" panose="020B0604030504040204" pitchFamily="34" charset="0"/>
                  <a:ea typeface="华文细黑" panose="02010600040101010101" pitchFamily="2" charset="-122"/>
                  <a:cs typeface="Tahoma" panose="020B0604030504040204" pitchFamily="34" charset="0"/>
                  <a:sym typeface="HelveticaNeueLT Pro 67 MdCn" pitchFamily="2" charset="-122"/>
                </a:endParaRPr>
              </a:p>
            </p:txBody>
          </p:sp>
          <p:cxnSp>
            <p:nvCxnSpPr>
              <p:cNvPr id="37" name="Straight Arrow Connector 36"/>
              <p:cNvCxnSpPr>
                <a:stCxn id="31" idx="2"/>
                <a:endCxn id="38" idx="0"/>
              </p:cNvCxnSpPr>
              <p:nvPr/>
            </p:nvCxnSpPr>
            <p:spPr>
              <a:xfrm>
                <a:off x="2757" y="5180"/>
                <a:ext cx="1" cy="883"/>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sp>
            <p:nvSpPr>
              <p:cNvPr id="38" name="Rounded Rectangle 37"/>
              <p:cNvSpPr/>
              <p:nvPr/>
            </p:nvSpPr>
            <p:spPr>
              <a:xfrm>
                <a:off x="1377" y="6063"/>
                <a:ext cx="2761" cy="1278"/>
              </a:xfrm>
              <a:prstGeom prst="roundRect">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en-US"/>
              </a:p>
            </p:txBody>
          </p:sp>
        </p:grpSp>
        <p:grpSp>
          <p:nvGrpSpPr>
            <p:cNvPr id="33" name="Group 32"/>
            <p:cNvGrpSpPr/>
            <p:nvPr/>
          </p:nvGrpSpPr>
          <p:grpSpPr>
            <a:xfrm>
              <a:off x="714375" y="4661535"/>
              <a:ext cx="2124710" cy="2065020"/>
              <a:chOff x="1125" y="7341"/>
              <a:chExt cx="3346" cy="3252"/>
            </a:xfrm>
          </p:grpSpPr>
          <p:sp>
            <p:nvSpPr>
              <p:cNvPr id="34" name="Text Box 14"/>
              <p:cNvSpPr txBox="1"/>
              <p:nvPr/>
            </p:nvSpPr>
            <p:spPr>
              <a:xfrm>
                <a:off x="1125" y="8308"/>
                <a:ext cx="3346" cy="2285"/>
              </a:xfrm>
              <a:prstGeom prst="rect">
                <a:avLst/>
              </a:prstGeom>
              <a:noFill/>
            </p:spPr>
            <p:txBody>
              <a:bodyPr wrap="square" rtlCol="0">
                <a:noAutofit/>
              </a:bodyPr>
              <a:lstStyle/>
              <a:p>
                <a:pPr algn="ctr"/>
                <a:r>
                  <a:rPr lang="en-US" dirty="0" err="1">
                    <a:solidFill>
                      <a:schemeClr val="bg1"/>
                    </a:solidFill>
                    <a:latin typeface="Tahoma" panose="020B0604030504040204" pitchFamily="34" charset="0"/>
                    <a:cs typeface="Tahoma" panose="020B0604030504040204" pitchFamily="34" charset="0"/>
                  </a:rPr>
                  <a:t>Chọn</a:t>
                </a:r>
                <a:r>
                  <a:rPr lang="en-US" dirty="0">
                    <a:solidFill>
                      <a:schemeClr val="bg1"/>
                    </a:solidFill>
                    <a:latin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cs typeface="Tahoma" panose="020B0604030504040204" pitchFamily="34" charset="0"/>
                  </a:rPr>
                  <a:t>đề</a:t>
                </a:r>
                <a:r>
                  <a:rPr lang="en-US" dirty="0">
                    <a:solidFill>
                      <a:schemeClr val="bg1"/>
                    </a:solidFill>
                    <a:latin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cs typeface="Tahoma" panose="020B0604030504040204" pitchFamily="34" charset="0"/>
                  </a:rPr>
                  <a:t>tài</a:t>
                </a:r>
                <a:r>
                  <a:rPr lang="en-US" dirty="0">
                    <a:solidFill>
                      <a:schemeClr val="bg1"/>
                    </a:solidFill>
                    <a:latin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cs typeface="Tahoma" panose="020B0604030504040204" pitchFamily="34" charset="0"/>
                  </a:rPr>
                  <a:t>Thiết</a:t>
                </a:r>
                <a:r>
                  <a:rPr lang="en-US" dirty="0">
                    <a:solidFill>
                      <a:schemeClr val="bg1"/>
                    </a:solidFill>
                    <a:latin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cs typeface="Tahoma" panose="020B0604030504040204" pitchFamily="34" charset="0"/>
                  </a:rPr>
                  <a:t>kế</a:t>
                </a:r>
                <a:r>
                  <a:rPr lang="en-US" dirty="0">
                    <a:solidFill>
                      <a:schemeClr val="bg1"/>
                    </a:solidFill>
                    <a:latin typeface="Tahoma" panose="020B0604030504040204" pitchFamily="34" charset="0"/>
                    <a:cs typeface="Tahoma" panose="020B0604030504040204" pitchFamily="34" charset="0"/>
                  </a:rPr>
                  <a:t> </a:t>
                </a:r>
                <a:r>
                  <a:rPr lang="en-US" dirty="0" smtClean="0">
                    <a:solidFill>
                      <a:schemeClr val="bg1"/>
                    </a:solidFill>
                    <a:latin typeface="Tahoma" panose="020B0604030504040204" pitchFamily="34" charset="0"/>
                    <a:cs typeface="Tahoma" panose="020B0604030504040204" pitchFamily="34" charset="0"/>
                  </a:rPr>
                  <a:t>website</a:t>
                </a:r>
                <a:endParaRPr lang="en-US" dirty="0">
                  <a:solidFill>
                    <a:schemeClr val="bg1"/>
                  </a:solidFill>
                  <a:latin typeface="Tahoma" panose="020B0604030504040204" pitchFamily="34" charset="0"/>
                  <a:cs typeface="Tahoma" panose="020B0604030504040204" pitchFamily="34" charset="0"/>
                </a:endParaRPr>
              </a:p>
            </p:txBody>
          </p:sp>
          <p:cxnSp>
            <p:nvCxnSpPr>
              <p:cNvPr id="35" name="Straight Arrow Connector 34"/>
              <p:cNvCxnSpPr>
                <a:stCxn id="38" idx="2"/>
              </p:cNvCxnSpPr>
              <p:nvPr/>
            </p:nvCxnSpPr>
            <p:spPr>
              <a:xfrm flipH="1">
                <a:off x="2757" y="7341"/>
                <a:ext cx="1" cy="885"/>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grpSp>
      </p:grpSp>
      <p:grpSp>
        <p:nvGrpSpPr>
          <p:cNvPr id="39" name="Group 38">
            <a:extLst>
              <a:ext uri="{FF2B5EF4-FFF2-40B4-BE49-F238E27FC236}">
                <a16:creationId xmlns:a16="http://schemas.microsoft.com/office/drawing/2014/main" id="{D7F8CC23-FD9E-0F76-E2F8-11A9C6060DFB}"/>
              </a:ext>
            </a:extLst>
          </p:cNvPr>
          <p:cNvGrpSpPr/>
          <p:nvPr/>
        </p:nvGrpSpPr>
        <p:grpSpPr>
          <a:xfrm>
            <a:off x="4612180" y="2658481"/>
            <a:ext cx="1924050" cy="5035550"/>
            <a:chOff x="3484880" y="1536065"/>
            <a:chExt cx="1924050" cy="5035550"/>
          </a:xfrm>
        </p:grpSpPr>
        <p:pic>
          <p:nvPicPr>
            <p:cNvPr id="40" name="Picture 39"/>
            <p:cNvPicPr>
              <a:picLocks noChangeAspect="1"/>
            </p:cNvPicPr>
            <p:nvPr/>
          </p:nvPicPr>
          <p:blipFill>
            <a:blip r:embed="rId13"/>
            <a:stretch>
              <a:fillRect/>
            </a:stretch>
          </p:blipFill>
          <p:spPr>
            <a:xfrm>
              <a:off x="3484880" y="1536065"/>
              <a:ext cx="1924050" cy="1753235"/>
            </a:xfrm>
            <a:prstGeom prst="rect">
              <a:avLst/>
            </a:prstGeom>
          </p:spPr>
        </p:pic>
        <p:grpSp>
          <p:nvGrpSpPr>
            <p:cNvPr id="41" name="Group 40"/>
            <p:cNvGrpSpPr/>
            <p:nvPr/>
          </p:nvGrpSpPr>
          <p:grpSpPr>
            <a:xfrm>
              <a:off x="3484880" y="3289300"/>
              <a:ext cx="1922780" cy="1372870"/>
              <a:chOff x="5488" y="5180"/>
              <a:chExt cx="3028" cy="2162"/>
            </a:xfrm>
          </p:grpSpPr>
          <p:sp>
            <p:nvSpPr>
              <p:cNvPr id="45" name="Rounded Rectangle 44"/>
              <p:cNvSpPr/>
              <p:nvPr/>
            </p:nvSpPr>
            <p:spPr>
              <a:xfrm>
                <a:off x="5488" y="6064"/>
                <a:ext cx="3028" cy="1278"/>
              </a:xfrm>
              <a:prstGeom prst="roundRect">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en-US"/>
              </a:p>
            </p:txBody>
          </p:sp>
          <p:grpSp>
            <p:nvGrpSpPr>
              <p:cNvPr id="46" name="Group 45"/>
              <p:cNvGrpSpPr/>
              <p:nvPr/>
            </p:nvGrpSpPr>
            <p:grpSpPr>
              <a:xfrm>
                <a:off x="5488" y="5180"/>
                <a:ext cx="2950" cy="2036"/>
                <a:chOff x="5488" y="5180"/>
                <a:chExt cx="2950" cy="2036"/>
              </a:xfrm>
            </p:grpSpPr>
            <p:sp>
              <p:nvSpPr>
                <p:cNvPr id="47" name="文本框 55"/>
                <p:cNvSpPr>
                  <a:spLocks noChangeArrowheads="1"/>
                </p:cNvSpPr>
                <p:nvPr/>
              </p:nvSpPr>
              <p:spPr bwMode="auto">
                <a:xfrm>
                  <a:off x="5488" y="6064"/>
                  <a:ext cx="2951"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1300">
                      <a:solidFill>
                        <a:schemeClr val="tx1"/>
                      </a:solidFill>
                      <a:latin typeface="Arial" panose="020B0604020202020204" pitchFamily="34" charset="0"/>
                      <a:ea typeface="SimSun" panose="02010600030101010101" pitchFamily="2" charset="-122"/>
                    </a:defRPr>
                  </a:lvl1pPr>
                  <a:lvl2pPr marL="742950" indent="-285750">
                    <a:defRPr sz="1300">
                      <a:solidFill>
                        <a:schemeClr val="tx1"/>
                      </a:solidFill>
                      <a:latin typeface="Arial" panose="020B0604020202020204" pitchFamily="34" charset="0"/>
                      <a:ea typeface="SimSun" panose="02010600030101010101" pitchFamily="2" charset="-122"/>
                    </a:defRPr>
                  </a:lvl2pPr>
                  <a:lvl3pPr marL="1143000" indent="-228600">
                    <a:defRPr sz="1300">
                      <a:solidFill>
                        <a:schemeClr val="tx1"/>
                      </a:solidFill>
                      <a:latin typeface="Arial" panose="020B0604020202020204" pitchFamily="34" charset="0"/>
                      <a:ea typeface="SimSun" panose="02010600030101010101" pitchFamily="2" charset="-122"/>
                    </a:defRPr>
                  </a:lvl3pPr>
                  <a:lvl4pPr marL="1600200" indent="-228600">
                    <a:defRPr sz="1300">
                      <a:solidFill>
                        <a:schemeClr val="tx1"/>
                      </a:solidFill>
                      <a:latin typeface="Arial" panose="020B0604020202020204" pitchFamily="34" charset="0"/>
                      <a:ea typeface="SimSun" panose="02010600030101010101" pitchFamily="2" charset="-122"/>
                    </a:defRPr>
                  </a:lvl4pPr>
                  <a:lvl5pPr marL="2057400" indent="-228600">
                    <a:defRPr sz="1300">
                      <a:solidFill>
                        <a:schemeClr val="tx1"/>
                      </a:solidFill>
                      <a:latin typeface="Arial" panose="020B0604020202020204" pitchFamily="34" charset="0"/>
                      <a:ea typeface="SimSun"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9pPr>
                </a:lstStyle>
                <a:p>
                  <a:pPr algn="ctr"/>
                  <a:r>
                    <a:rPr lang="en-US" altLang="zh-CN" sz="2500" smtClean="0">
                      <a:solidFill>
                        <a:schemeClr val="bg1"/>
                      </a:solidFill>
                      <a:latin typeface="Cabin Bold" panose="020B0604020202020204" charset="0"/>
                      <a:ea typeface="华文细黑" panose="02010600040101010101" pitchFamily="2" charset="-122"/>
                      <a:cs typeface="Tahoma" panose="020B0604030504040204" pitchFamily="34" charset="0"/>
                      <a:sym typeface="HelveticaNeueLT Pro 67 MdCn" pitchFamily="2" charset="-122"/>
                    </a:rPr>
                    <a:t>Tìm hiểu </a:t>
                  </a:r>
                  <a:r>
                    <a:rPr lang="en-US" sz="2500">
                      <a:solidFill>
                        <a:schemeClr val="bg1"/>
                      </a:solidFill>
                      <a:latin typeface="Cabin Bold" panose="020B0604020202020204" charset="0"/>
                    </a:rPr>
                    <a:t>MERN Stack</a:t>
                  </a:r>
                  <a:endParaRPr lang="en-US" altLang="zh-CN" sz="2500" dirty="0">
                    <a:solidFill>
                      <a:schemeClr val="bg1"/>
                    </a:solidFill>
                    <a:latin typeface="Cabin Bold" panose="020B0604020202020204" charset="0"/>
                    <a:ea typeface="华文细黑" panose="02010600040101010101" pitchFamily="2" charset="-122"/>
                    <a:cs typeface="Tahoma" panose="020B0604030504040204" pitchFamily="34" charset="0"/>
                    <a:sym typeface="HelveticaNeueLT Pro 67 MdCn" pitchFamily="2" charset="-122"/>
                  </a:endParaRPr>
                </a:p>
              </p:txBody>
            </p:sp>
            <p:cxnSp>
              <p:nvCxnSpPr>
                <p:cNvPr id="48" name="Straight Arrow Connector 47"/>
                <p:cNvCxnSpPr>
                  <a:stCxn id="40" idx="2"/>
                  <a:endCxn id="45" idx="0"/>
                </p:cNvCxnSpPr>
                <p:nvPr/>
              </p:nvCxnSpPr>
              <p:spPr>
                <a:xfrm flipH="1">
                  <a:off x="7002" y="5180"/>
                  <a:ext cx="1" cy="884"/>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grpSp>
        </p:grpSp>
        <p:grpSp>
          <p:nvGrpSpPr>
            <p:cNvPr id="42" name="Group 41"/>
            <p:cNvGrpSpPr/>
            <p:nvPr/>
          </p:nvGrpSpPr>
          <p:grpSpPr>
            <a:xfrm>
              <a:off x="3484880" y="4673600"/>
              <a:ext cx="1873885" cy="1898015"/>
              <a:chOff x="5488" y="7360"/>
              <a:chExt cx="2951" cy="2989"/>
            </a:xfrm>
          </p:grpSpPr>
          <p:sp>
            <p:nvSpPr>
              <p:cNvPr id="43" name="Text Box 17"/>
              <p:cNvSpPr txBox="1"/>
              <p:nvPr/>
            </p:nvSpPr>
            <p:spPr>
              <a:xfrm>
                <a:off x="5488" y="8226"/>
                <a:ext cx="2951" cy="2123"/>
              </a:xfrm>
              <a:prstGeom prst="rect">
                <a:avLst/>
              </a:prstGeom>
              <a:noFill/>
            </p:spPr>
            <p:txBody>
              <a:bodyPr wrap="square" rtlCol="0">
                <a:noAutofit/>
              </a:bodyPr>
              <a:lstStyle/>
              <a:p>
                <a:pPr algn="ctr"/>
                <a:r>
                  <a:rPr lang="en-US" dirty="0" err="1" smtClean="0">
                    <a:solidFill>
                      <a:schemeClr val="bg1"/>
                    </a:solidFill>
                    <a:latin typeface="Tahoma" panose="020B0604030504040204" pitchFamily="34" charset="0"/>
                    <a:cs typeface="Tahoma" panose="020B0604030504040204" pitchFamily="34" charset="0"/>
                  </a:rPr>
                  <a:t>Xây</a:t>
                </a:r>
                <a:r>
                  <a:rPr lang="en-US" dirty="0" smtClean="0">
                    <a:solidFill>
                      <a:schemeClr val="bg1"/>
                    </a:solidFill>
                    <a:latin typeface="Tahoma" panose="020B0604030504040204" pitchFamily="34" charset="0"/>
                    <a:cs typeface="Tahoma" panose="020B0604030504040204" pitchFamily="34" charset="0"/>
                  </a:rPr>
                  <a:t> </a:t>
                </a:r>
                <a:r>
                  <a:rPr lang="en-US" dirty="0" err="1" smtClean="0">
                    <a:solidFill>
                      <a:schemeClr val="bg1"/>
                    </a:solidFill>
                    <a:latin typeface="Tahoma" panose="020B0604030504040204" pitchFamily="34" charset="0"/>
                    <a:cs typeface="Tahoma" panose="020B0604030504040204" pitchFamily="34" charset="0"/>
                  </a:rPr>
                  <a:t>dựng</a:t>
                </a:r>
                <a:r>
                  <a:rPr lang="en-US" dirty="0" smtClean="0">
                    <a:solidFill>
                      <a:schemeClr val="bg1"/>
                    </a:solidFill>
                    <a:latin typeface="Tahoma" panose="020B0604030504040204" pitchFamily="34" charset="0"/>
                    <a:cs typeface="Tahoma" panose="020B0604030504040204" pitchFamily="34" charset="0"/>
                  </a:rPr>
                  <a:t> </a:t>
                </a:r>
                <a:r>
                  <a:rPr lang="en-US" dirty="0" err="1" smtClean="0">
                    <a:solidFill>
                      <a:schemeClr val="bg1"/>
                    </a:solidFill>
                    <a:latin typeface="Tahoma" panose="020B0604030504040204" pitchFamily="34" charset="0"/>
                    <a:cs typeface="Tahoma" panose="020B0604030504040204" pitchFamily="34" charset="0"/>
                  </a:rPr>
                  <a:t>trang</a:t>
                </a:r>
                <a:r>
                  <a:rPr lang="en-US" dirty="0" smtClean="0">
                    <a:solidFill>
                      <a:schemeClr val="bg1"/>
                    </a:solidFill>
                    <a:latin typeface="Tahoma" panose="020B0604030504040204" pitchFamily="34" charset="0"/>
                    <a:cs typeface="Tahoma" panose="020B0604030504040204" pitchFamily="34" charset="0"/>
                  </a:rPr>
                  <a:t> web</a:t>
                </a:r>
                <a:endParaRPr lang="en-US" dirty="0">
                  <a:solidFill>
                    <a:schemeClr val="bg1"/>
                  </a:solidFill>
                  <a:latin typeface="Tahoma" panose="020B0604030504040204" pitchFamily="34" charset="0"/>
                  <a:cs typeface="Tahoma" panose="020B0604030504040204" pitchFamily="34" charset="0"/>
                </a:endParaRPr>
              </a:p>
            </p:txBody>
          </p:sp>
          <p:cxnSp>
            <p:nvCxnSpPr>
              <p:cNvPr id="44" name="Straight Arrow Connector 43"/>
              <p:cNvCxnSpPr>
                <a:endCxn id="43" idx="0"/>
              </p:cNvCxnSpPr>
              <p:nvPr/>
            </p:nvCxnSpPr>
            <p:spPr>
              <a:xfrm flipH="1">
                <a:off x="6964" y="7360"/>
                <a:ext cx="17" cy="866"/>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grpSp>
      </p:grpSp>
      <p:grpSp>
        <p:nvGrpSpPr>
          <p:cNvPr id="49" name="Group 48">
            <a:extLst>
              <a:ext uri="{FF2B5EF4-FFF2-40B4-BE49-F238E27FC236}">
                <a16:creationId xmlns:a16="http://schemas.microsoft.com/office/drawing/2014/main" id="{2990B3D9-CDFE-595D-690B-123EDFBA0EBE}"/>
              </a:ext>
            </a:extLst>
          </p:cNvPr>
          <p:cNvGrpSpPr/>
          <p:nvPr/>
        </p:nvGrpSpPr>
        <p:grpSpPr>
          <a:xfrm>
            <a:off x="19048925" y="1758199"/>
            <a:ext cx="2024380" cy="5034280"/>
            <a:chOff x="6323330" y="1535430"/>
            <a:chExt cx="2024380" cy="5034280"/>
          </a:xfrm>
        </p:grpSpPr>
        <p:pic>
          <p:nvPicPr>
            <p:cNvPr id="50" name="Picture 49"/>
            <p:cNvPicPr>
              <a:picLocks noChangeAspect="1"/>
            </p:cNvPicPr>
            <p:nvPr/>
          </p:nvPicPr>
          <p:blipFill>
            <a:blip r:embed="rId14"/>
            <a:stretch>
              <a:fillRect/>
            </a:stretch>
          </p:blipFill>
          <p:spPr>
            <a:xfrm>
              <a:off x="6334760" y="1535430"/>
              <a:ext cx="2009140" cy="1753870"/>
            </a:xfrm>
            <a:prstGeom prst="rect">
              <a:avLst/>
            </a:prstGeom>
          </p:spPr>
        </p:pic>
        <p:grpSp>
          <p:nvGrpSpPr>
            <p:cNvPr id="51" name="Group 50"/>
            <p:cNvGrpSpPr/>
            <p:nvPr/>
          </p:nvGrpSpPr>
          <p:grpSpPr>
            <a:xfrm>
              <a:off x="6323330" y="3289300"/>
              <a:ext cx="2024380" cy="1372235"/>
              <a:chOff x="9958" y="5180"/>
              <a:chExt cx="3188" cy="2161"/>
            </a:xfrm>
          </p:grpSpPr>
          <p:sp>
            <p:nvSpPr>
              <p:cNvPr id="55" name="文本框 55"/>
              <p:cNvSpPr>
                <a:spLocks noChangeArrowheads="1"/>
              </p:cNvSpPr>
              <p:nvPr/>
            </p:nvSpPr>
            <p:spPr bwMode="auto">
              <a:xfrm>
                <a:off x="9958" y="6063"/>
                <a:ext cx="3189"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1300">
                    <a:solidFill>
                      <a:schemeClr val="tx1"/>
                    </a:solidFill>
                    <a:latin typeface="Arial" panose="020B0604020202020204" pitchFamily="34" charset="0"/>
                    <a:ea typeface="SimSun" panose="02010600030101010101" pitchFamily="2" charset="-122"/>
                  </a:defRPr>
                </a:lvl1pPr>
                <a:lvl2pPr marL="742950" indent="-285750">
                  <a:defRPr sz="1300">
                    <a:solidFill>
                      <a:schemeClr val="tx1"/>
                    </a:solidFill>
                    <a:latin typeface="Arial" panose="020B0604020202020204" pitchFamily="34" charset="0"/>
                    <a:ea typeface="SimSun" panose="02010600030101010101" pitchFamily="2" charset="-122"/>
                  </a:defRPr>
                </a:lvl2pPr>
                <a:lvl3pPr marL="1143000" indent="-228600">
                  <a:defRPr sz="1300">
                    <a:solidFill>
                      <a:schemeClr val="tx1"/>
                    </a:solidFill>
                    <a:latin typeface="Arial" panose="020B0604020202020204" pitchFamily="34" charset="0"/>
                    <a:ea typeface="SimSun" panose="02010600030101010101" pitchFamily="2" charset="-122"/>
                  </a:defRPr>
                </a:lvl3pPr>
                <a:lvl4pPr marL="1600200" indent="-228600">
                  <a:defRPr sz="1300">
                    <a:solidFill>
                      <a:schemeClr val="tx1"/>
                    </a:solidFill>
                    <a:latin typeface="Arial" panose="020B0604020202020204" pitchFamily="34" charset="0"/>
                    <a:ea typeface="SimSun" panose="02010600030101010101" pitchFamily="2" charset="-122"/>
                  </a:defRPr>
                </a:lvl4pPr>
                <a:lvl5pPr marL="2057400" indent="-228600">
                  <a:defRPr sz="1300">
                    <a:solidFill>
                      <a:schemeClr val="tx1"/>
                    </a:solidFill>
                    <a:latin typeface="Arial" panose="020B0604020202020204" pitchFamily="34" charset="0"/>
                    <a:ea typeface="SimSun"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9pPr>
              </a:lstStyle>
              <a:p>
                <a:pPr algn="ctr" eaLnBrk="1" hangingPunct="1">
                  <a:buFont typeface="Arial" panose="020B0604020202020204" pitchFamily="34" charset="0"/>
                  <a:buNone/>
                </a:pPr>
                <a:r>
                  <a:rPr lang="en-US" altLang="zh-CN" sz="2000" dirty="0">
                    <a:solidFill>
                      <a:schemeClr val="bg1"/>
                    </a:solidFill>
                    <a:latin typeface="Tahoma" panose="020B0604030504040204" pitchFamily="34" charset="0"/>
                    <a:ea typeface="华文细黑" panose="02010600040101010101" pitchFamily="2" charset="-122"/>
                    <a:cs typeface="Tahoma" panose="020B0604030504040204" pitchFamily="34" charset="0"/>
                    <a:sym typeface="HelveticaNeueLT Pro 67 MdCn" pitchFamily="2" charset="-122"/>
                  </a:rPr>
                  <a:t>Kiểm lỗi</a:t>
                </a:r>
                <a:endParaRPr lang="zh-CN" altLang="en-US" sz="2000" dirty="0">
                  <a:solidFill>
                    <a:schemeClr val="bg1"/>
                  </a:solidFill>
                  <a:latin typeface="Tahoma" panose="020B0604030504040204" pitchFamily="34" charset="0"/>
                  <a:ea typeface="华文细黑" panose="02010600040101010101" pitchFamily="2" charset="-122"/>
                  <a:cs typeface="Tahoma" panose="020B0604030504040204" pitchFamily="34" charset="0"/>
                  <a:sym typeface="HelveticaNeueLT Pro 67 MdCn" pitchFamily="2" charset="-122"/>
                </a:endParaRPr>
              </a:p>
            </p:txBody>
          </p:sp>
          <p:sp>
            <p:nvSpPr>
              <p:cNvPr id="56" name="Rounded Rectangle 55"/>
              <p:cNvSpPr/>
              <p:nvPr/>
            </p:nvSpPr>
            <p:spPr>
              <a:xfrm>
                <a:off x="9958" y="6063"/>
                <a:ext cx="3181" cy="1278"/>
              </a:xfrm>
              <a:prstGeom prst="roundRect">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en-US"/>
              </a:p>
            </p:txBody>
          </p:sp>
          <p:cxnSp>
            <p:nvCxnSpPr>
              <p:cNvPr id="57" name="Straight Arrow Connector 56"/>
              <p:cNvCxnSpPr>
                <a:stCxn id="50" idx="2"/>
                <a:endCxn id="56" idx="0"/>
              </p:cNvCxnSpPr>
              <p:nvPr/>
            </p:nvCxnSpPr>
            <p:spPr>
              <a:xfrm flipH="1">
                <a:off x="11549" y="5180"/>
                <a:ext cx="9" cy="883"/>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grpSp>
        <p:grpSp>
          <p:nvGrpSpPr>
            <p:cNvPr id="52" name="Group 51"/>
            <p:cNvGrpSpPr/>
            <p:nvPr/>
          </p:nvGrpSpPr>
          <p:grpSpPr>
            <a:xfrm>
              <a:off x="6334760" y="4661535"/>
              <a:ext cx="1983740" cy="1908175"/>
              <a:chOff x="9976" y="7341"/>
              <a:chExt cx="3124" cy="3005"/>
            </a:xfrm>
          </p:grpSpPr>
          <p:sp>
            <p:nvSpPr>
              <p:cNvPr id="53" name="Text Box 22"/>
              <p:cNvSpPr txBox="1"/>
              <p:nvPr/>
            </p:nvSpPr>
            <p:spPr>
              <a:xfrm>
                <a:off x="9976" y="8224"/>
                <a:ext cx="3124" cy="2123"/>
              </a:xfrm>
              <a:prstGeom prst="rect">
                <a:avLst/>
              </a:prstGeom>
              <a:noFill/>
            </p:spPr>
            <p:txBody>
              <a:bodyPr wrap="square" rtlCol="0">
                <a:noAutofit/>
              </a:bodyPr>
              <a:lstStyle/>
              <a:p>
                <a:pPr algn="ctr"/>
                <a:r>
                  <a:rPr lang="en-US" dirty="0" err="1">
                    <a:solidFill>
                      <a:schemeClr val="bg1"/>
                    </a:solidFill>
                    <a:latin typeface="Tahoma" panose="020B0604030504040204" pitchFamily="34" charset="0"/>
                    <a:cs typeface="Tahoma" panose="020B0604030504040204" pitchFamily="34" charset="0"/>
                  </a:rPr>
                  <a:t>Kiểm</a:t>
                </a:r>
                <a:r>
                  <a:rPr lang="en-US" dirty="0">
                    <a:solidFill>
                      <a:schemeClr val="bg1"/>
                    </a:solidFill>
                    <a:latin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cs typeface="Tahoma" panose="020B0604030504040204" pitchFamily="34" charset="0"/>
                  </a:rPr>
                  <a:t>lỗi</a:t>
                </a:r>
                <a:r>
                  <a:rPr lang="en-US" dirty="0">
                    <a:solidFill>
                      <a:schemeClr val="bg1"/>
                    </a:solidFill>
                    <a:latin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cs typeface="Tahoma" panose="020B0604030504040204" pitchFamily="34" charset="0"/>
                  </a:rPr>
                  <a:t>và</a:t>
                </a:r>
                <a:r>
                  <a:rPr lang="en-US" dirty="0">
                    <a:solidFill>
                      <a:schemeClr val="bg1"/>
                    </a:solidFill>
                    <a:latin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cs typeface="Tahoma" panose="020B0604030504040204" pitchFamily="34" charset="0"/>
                  </a:rPr>
                  <a:t>chạy</a:t>
                </a:r>
                <a:r>
                  <a:rPr lang="en-US" dirty="0">
                    <a:solidFill>
                      <a:schemeClr val="bg1"/>
                    </a:solidFill>
                    <a:latin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cs typeface="Tahoma" panose="020B0604030504040204" pitchFamily="34" charset="0"/>
                  </a:rPr>
                  <a:t>thử</a:t>
                </a:r>
                <a:r>
                  <a:rPr lang="en-US" dirty="0">
                    <a:solidFill>
                      <a:schemeClr val="bg1"/>
                    </a:solidFill>
                    <a:latin typeface="Tahoma" panose="020B0604030504040204" pitchFamily="34" charset="0"/>
                    <a:cs typeface="Tahoma" panose="020B0604030504040204" pitchFamily="34" charset="0"/>
                  </a:rPr>
                  <a:t> </a:t>
                </a:r>
                <a:r>
                  <a:rPr lang="en-US" dirty="0" err="1">
                    <a:solidFill>
                      <a:schemeClr val="bg1"/>
                    </a:solidFill>
                    <a:latin typeface="Tahoma" panose="020B0604030504040204" pitchFamily="34" charset="0"/>
                    <a:cs typeface="Tahoma" panose="020B0604030504040204" pitchFamily="34" charset="0"/>
                  </a:rPr>
                  <a:t>trang</a:t>
                </a:r>
                <a:r>
                  <a:rPr lang="en-US" dirty="0">
                    <a:solidFill>
                      <a:schemeClr val="bg1"/>
                    </a:solidFill>
                    <a:latin typeface="Tahoma" panose="020B0604030504040204" pitchFamily="34" charset="0"/>
                    <a:cs typeface="Tahoma" panose="020B0604030504040204" pitchFamily="34" charset="0"/>
                  </a:rPr>
                  <a:t> web.</a:t>
                </a:r>
              </a:p>
            </p:txBody>
          </p:sp>
          <p:cxnSp>
            <p:nvCxnSpPr>
              <p:cNvPr id="54" name="Straight Arrow Connector 53"/>
              <p:cNvCxnSpPr>
                <a:stCxn id="56" idx="2"/>
                <a:endCxn id="53" idx="0"/>
              </p:cNvCxnSpPr>
              <p:nvPr/>
            </p:nvCxnSpPr>
            <p:spPr>
              <a:xfrm flipH="1">
                <a:off x="11538" y="7341"/>
                <a:ext cx="11" cy="883"/>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grpSp>
      </p:grpSp>
      <p:grpSp>
        <p:nvGrpSpPr>
          <p:cNvPr id="69" name="Group 68"/>
          <p:cNvGrpSpPr/>
          <p:nvPr/>
        </p:nvGrpSpPr>
        <p:grpSpPr>
          <a:xfrm>
            <a:off x="22027078" y="1612791"/>
            <a:ext cx="2676525" cy="5791044"/>
            <a:chOff x="22027078" y="1612791"/>
            <a:chExt cx="2676525" cy="5791044"/>
          </a:xfrm>
        </p:grpSpPr>
        <p:grpSp>
          <p:nvGrpSpPr>
            <p:cNvPr id="58" name="Group 57">
              <a:extLst>
                <a:ext uri="{FF2B5EF4-FFF2-40B4-BE49-F238E27FC236}">
                  <a16:creationId xmlns:a16="http://schemas.microsoft.com/office/drawing/2014/main" id="{3782938A-6862-B372-C438-EE7B6B2F2442}"/>
                </a:ext>
              </a:extLst>
            </p:cNvPr>
            <p:cNvGrpSpPr/>
            <p:nvPr/>
          </p:nvGrpSpPr>
          <p:grpSpPr>
            <a:xfrm>
              <a:off x="22479634" y="1612791"/>
              <a:ext cx="1978660" cy="3699510"/>
              <a:chOff x="9222740" y="1534160"/>
              <a:chExt cx="1978660" cy="3699510"/>
            </a:xfrm>
          </p:grpSpPr>
          <p:pic>
            <p:nvPicPr>
              <p:cNvPr id="59" name="Picture 58"/>
              <p:cNvPicPr>
                <a:picLocks noChangeAspect="1"/>
              </p:cNvPicPr>
              <p:nvPr/>
            </p:nvPicPr>
            <p:blipFill>
              <a:blip r:embed="rId15"/>
              <a:stretch>
                <a:fillRect/>
              </a:stretch>
            </p:blipFill>
            <p:spPr>
              <a:xfrm>
                <a:off x="9235440" y="1534160"/>
                <a:ext cx="1965960" cy="1754505"/>
              </a:xfrm>
              <a:prstGeom prst="rect">
                <a:avLst/>
              </a:prstGeom>
            </p:spPr>
          </p:pic>
          <p:grpSp>
            <p:nvGrpSpPr>
              <p:cNvPr id="60" name="Group 59"/>
              <p:cNvGrpSpPr/>
              <p:nvPr/>
            </p:nvGrpSpPr>
            <p:grpSpPr>
              <a:xfrm>
                <a:off x="9222740" y="3288665"/>
                <a:ext cx="1969770" cy="1372870"/>
                <a:chOff x="14524" y="5179"/>
                <a:chExt cx="3102" cy="2162"/>
              </a:xfrm>
            </p:grpSpPr>
            <p:sp>
              <p:nvSpPr>
                <p:cNvPr id="64" name="文本框 55"/>
                <p:cNvSpPr>
                  <a:spLocks noChangeArrowheads="1"/>
                </p:cNvSpPr>
                <p:nvPr/>
              </p:nvSpPr>
              <p:spPr bwMode="auto">
                <a:xfrm>
                  <a:off x="14589" y="6063"/>
                  <a:ext cx="2988"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sz="1300">
                      <a:solidFill>
                        <a:schemeClr val="tx1"/>
                      </a:solidFill>
                      <a:latin typeface="Arial" panose="020B0604020202020204" pitchFamily="34" charset="0"/>
                      <a:ea typeface="SimSun" panose="02010600030101010101" pitchFamily="2" charset="-122"/>
                    </a:defRPr>
                  </a:lvl1pPr>
                  <a:lvl2pPr marL="742950" indent="-285750">
                    <a:defRPr sz="1300">
                      <a:solidFill>
                        <a:schemeClr val="tx1"/>
                      </a:solidFill>
                      <a:latin typeface="Arial" panose="020B0604020202020204" pitchFamily="34" charset="0"/>
                      <a:ea typeface="SimSun" panose="02010600030101010101" pitchFamily="2" charset="-122"/>
                    </a:defRPr>
                  </a:lvl2pPr>
                  <a:lvl3pPr marL="1143000" indent="-228600">
                    <a:defRPr sz="1300">
                      <a:solidFill>
                        <a:schemeClr val="tx1"/>
                      </a:solidFill>
                      <a:latin typeface="Arial" panose="020B0604020202020204" pitchFamily="34" charset="0"/>
                      <a:ea typeface="SimSun" panose="02010600030101010101" pitchFamily="2" charset="-122"/>
                    </a:defRPr>
                  </a:lvl3pPr>
                  <a:lvl4pPr marL="1600200" indent="-228600">
                    <a:defRPr sz="1300">
                      <a:solidFill>
                        <a:schemeClr val="tx1"/>
                      </a:solidFill>
                      <a:latin typeface="Arial" panose="020B0604020202020204" pitchFamily="34" charset="0"/>
                      <a:ea typeface="SimSun" panose="02010600030101010101" pitchFamily="2" charset="-122"/>
                    </a:defRPr>
                  </a:lvl4pPr>
                  <a:lvl5pPr marL="2057400" indent="-228600">
                    <a:defRPr sz="1300">
                      <a:solidFill>
                        <a:schemeClr val="tx1"/>
                      </a:solidFill>
                      <a:latin typeface="Arial" panose="020B0604020202020204" pitchFamily="34" charset="0"/>
                      <a:ea typeface="SimSun" panose="02010600030101010101" pitchFamily="2" charset="-122"/>
                    </a:defRPr>
                  </a:lvl5pPr>
                  <a:lvl6pPr marL="25146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6pPr>
                  <a:lvl7pPr marL="29718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7pPr>
                  <a:lvl8pPr marL="34290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8pPr>
                  <a:lvl9pPr marL="3886200" indent="-228600" defTabSz="685800" eaLnBrk="0" fontAlgn="base" hangingPunct="0">
                    <a:spcBef>
                      <a:spcPct val="0"/>
                    </a:spcBef>
                    <a:spcAft>
                      <a:spcPct val="0"/>
                    </a:spcAft>
                    <a:defRPr sz="1300">
                      <a:solidFill>
                        <a:schemeClr val="tx1"/>
                      </a:solidFill>
                      <a:latin typeface="Arial" panose="020B0604020202020204" pitchFamily="34" charset="0"/>
                      <a:ea typeface="SimSun" panose="02010600030101010101" pitchFamily="2" charset="-122"/>
                    </a:defRPr>
                  </a:lvl9pPr>
                </a:lstStyle>
                <a:p>
                  <a:pPr algn="ctr" eaLnBrk="1" hangingPunct="1">
                    <a:buFont typeface="Arial" panose="020B0604020202020204" pitchFamily="34" charset="0"/>
                    <a:buNone/>
                  </a:pPr>
                  <a:r>
                    <a:rPr lang="en-US" altLang="zh-CN" sz="2000" dirty="0">
                      <a:solidFill>
                        <a:schemeClr val="bg1"/>
                      </a:solidFill>
                      <a:latin typeface="Tahoma" panose="020B0604030504040204" pitchFamily="34" charset="0"/>
                      <a:ea typeface="华文细黑" panose="02010600040101010101" pitchFamily="2" charset="-122"/>
                      <a:cs typeface="Tahoma" panose="020B0604030504040204" pitchFamily="34" charset="0"/>
                      <a:sym typeface="HelveticaNeueLT Pro 67 MdCn" pitchFamily="2" charset="-122"/>
                    </a:rPr>
                    <a:t>Hoàn thiện</a:t>
                  </a:r>
                </a:p>
              </p:txBody>
            </p:sp>
            <p:sp>
              <p:nvSpPr>
                <p:cNvPr id="65" name="Rounded Rectangle 64"/>
                <p:cNvSpPr/>
                <p:nvPr/>
              </p:nvSpPr>
              <p:spPr>
                <a:xfrm>
                  <a:off x="14524" y="6063"/>
                  <a:ext cx="3103" cy="1278"/>
                </a:xfrm>
                <a:prstGeom prst="roundRect">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en-US"/>
                </a:p>
              </p:txBody>
            </p:sp>
            <p:cxnSp>
              <p:nvCxnSpPr>
                <p:cNvPr id="66" name="Straight Arrow Connector 65"/>
                <p:cNvCxnSpPr>
                  <a:stCxn id="59" idx="2"/>
                  <a:endCxn id="65" idx="0"/>
                </p:cNvCxnSpPr>
                <p:nvPr/>
              </p:nvCxnSpPr>
              <p:spPr>
                <a:xfrm flipH="1">
                  <a:off x="16076" y="5179"/>
                  <a:ext cx="16" cy="884"/>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grpSp>
          <p:cxnSp>
            <p:nvCxnSpPr>
              <p:cNvPr id="62" name="Straight Arrow Connector 61"/>
              <p:cNvCxnSpPr>
                <a:stCxn id="65" idx="2"/>
              </p:cNvCxnSpPr>
              <p:nvPr/>
            </p:nvCxnSpPr>
            <p:spPr>
              <a:xfrm flipH="1">
                <a:off x="10203180" y="4661535"/>
                <a:ext cx="5080" cy="572135"/>
              </a:xfrm>
              <a:prstGeom prst="straightConnector1">
                <a:avLst/>
              </a:prstGeom>
              <a:ln>
                <a:solidFill>
                  <a:srgbClr val="FFC000"/>
                </a:solidFill>
                <a:tailEnd type="arrow"/>
              </a:ln>
            </p:spPr>
            <p:style>
              <a:lnRef idx="2">
                <a:schemeClr val="accent1"/>
              </a:lnRef>
              <a:fillRef idx="0">
                <a:srgbClr val="FFFFFF"/>
              </a:fillRef>
              <a:effectRef idx="0">
                <a:srgbClr val="FFFFFF"/>
              </a:effectRef>
              <a:fontRef idx="minor">
                <a:schemeClr val="tx1"/>
              </a:fontRef>
            </p:style>
          </p:cxnSp>
        </p:grpSp>
        <p:pic>
          <p:nvPicPr>
            <p:cNvPr id="68" name="Picture 67"/>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2027078" y="4727310"/>
              <a:ext cx="2676525" cy="267652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path" presetSubtype="0" accel="50000" decel="50000" fill="hold" nodeType="clickEffect">
                                  <p:stCondLst>
                                    <p:cond delay="0"/>
                                  </p:stCondLst>
                                  <p:childTnLst>
                                    <p:animMotion origin="layout" path="M -1.80556E-6 3.58025E-6 L -0.58437 0.08256 " pathEditMode="relative" rAng="0" ptsTypes="AA">
                                      <p:cBhvr>
                                        <p:cTn id="21" dur="2000" fill="hold"/>
                                        <p:tgtEl>
                                          <p:spTgt spid="49"/>
                                        </p:tgtEl>
                                        <p:attrNameLst>
                                          <p:attrName>ppt_x</p:attrName>
                                          <p:attrName>ppt_y</p:attrName>
                                        </p:attrNameLst>
                                      </p:cBhvr>
                                      <p:rCtr x="-29219" y="4120"/>
                                    </p:animMotion>
                                  </p:childTnLst>
                                </p:cTn>
                              </p:par>
                            </p:childTnLst>
                          </p:cTn>
                        </p:par>
                      </p:childTnLst>
                    </p:cTn>
                  </p:par>
                  <p:par>
                    <p:cTn id="22" fill="hold">
                      <p:stCondLst>
                        <p:cond delay="indefinite"/>
                      </p:stCondLst>
                      <p:childTnLst>
                        <p:par>
                          <p:cTn id="23" fill="hold">
                            <p:stCondLst>
                              <p:cond delay="0"/>
                            </p:stCondLst>
                            <p:childTnLst>
                              <p:par>
                                <p:cTn id="24" presetID="42" presetClass="path" presetSubtype="0" accel="50000" decel="50000" fill="hold" nodeType="clickEffect">
                                  <p:stCondLst>
                                    <p:cond delay="0"/>
                                  </p:stCondLst>
                                  <p:childTnLst>
                                    <p:animMotion origin="layout" path="M -4.16667E-6 -1.60494E-6 L -0.62118 0.09244 " pathEditMode="relative" rAng="0" ptsTypes="AA">
                                      <p:cBhvr>
                                        <p:cTn id="25" dur="2000" fill="hold"/>
                                        <p:tgtEl>
                                          <p:spTgt spid="69"/>
                                        </p:tgtEl>
                                        <p:attrNameLst>
                                          <p:attrName>ppt_x</p:attrName>
                                          <p:attrName>ppt_y</p:attrName>
                                        </p:attrNameLst>
                                      </p:cBhvr>
                                      <p:rCtr x="-31059" y="461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9259" b="-9259"/>
            </a:stretch>
          </a:blipFill>
        </p:spPr>
      </p:sp>
      <p:sp>
        <p:nvSpPr>
          <p:cNvPr id="9" name="Freeform 9"/>
          <p:cNvSpPr/>
          <p:nvPr/>
        </p:nvSpPr>
        <p:spPr>
          <a:xfrm rot="3301940">
            <a:off x="-2976647" y="6044703"/>
            <a:ext cx="7092618" cy="4797189"/>
          </a:xfrm>
          <a:custGeom>
            <a:avLst/>
            <a:gdLst/>
            <a:ahLst/>
            <a:cxnLst/>
            <a:rect l="l" t="t" r="r" b="b"/>
            <a:pathLst>
              <a:path w="7092618" h="4797189">
                <a:moveTo>
                  <a:pt x="0" y="0"/>
                </a:moveTo>
                <a:lnTo>
                  <a:pt x="7092618" y="0"/>
                </a:lnTo>
                <a:lnTo>
                  <a:pt x="7092618" y="4797189"/>
                </a:lnTo>
                <a:lnTo>
                  <a:pt x="0" y="4797189"/>
                </a:lnTo>
                <a:lnTo>
                  <a:pt x="0" y="0"/>
                </a:lnTo>
                <a:close/>
              </a:path>
            </a:pathLst>
          </a:custGeom>
          <a:blipFill>
            <a:blip r:embed="rId5">
              <a:extLst>
                <a:ext uri="{96DAC541-7B7A-43D3-8B79-37D633B846F1}">
                  <asvg:svgBlip xmlns:asvg="http://schemas.microsoft.com/office/drawing/2016/SVG/main" xmlns="" r:embed="rId11"/>
                </a:ext>
              </a:extLst>
            </a:blip>
            <a:stretch>
              <a:fillRect/>
            </a:stretch>
          </a:blipFill>
        </p:spPr>
      </p:sp>
      <p:sp>
        <p:nvSpPr>
          <p:cNvPr id="22" name="Round Diagonal Corner Rectangle 21"/>
          <p:cNvSpPr/>
          <p:nvPr/>
        </p:nvSpPr>
        <p:spPr>
          <a:xfrm>
            <a:off x="1219200" y="3347494"/>
            <a:ext cx="4163231" cy="1630045"/>
          </a:xfrm>
          <a:prstGeom prst="round2DiagRect">
            <a:avLst/>
          </a:prstGeom>
        </p:spPr>
        <p:style>
          <a:lnRef idx="0">
            <a:srgbClr val="FFFFFF"/>
          </a:lnRef>
          <a:fillRef idx="2">
            <a:schemeClr val="accent1"/>
          </a:fillRef>
          <a:effectRef idx="0">
            <a:srgbClr val="FFFFFF"/>
          </a:effectRef>
          <a:fontRef idx="minor">
            <a:schemeClr val="lt1"/>
          </a:fontRef>
        </p:style>
        <p:txBody>
          <a:bodyPr rtlCol="0" anchor="ctr"/>
          <a:lstStyle/>
          <a:p>
            <a:pPr algn="ctr"/>
            <a:r>
              <a:rPr lang="en-US" sz="2500" dirty="0" err="1" smtClean="0">
                <a:solidFill>
                  <a:schemeClr val="tx1"/>
                </a:solidFill>
                <a:latin typeface="Tahoma" panose="020B0604030504040204" pitchFamily="34" charset="0"/>
                <a:cs typeface="Tahoma" panose="020B0604030504040204" pitchFamily="34" charset="0"/>
              </a:rPr>
              <a:t>Hiểu</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thêm</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các</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khái</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niệm</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liên</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quan</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đến</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báo</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cáo</a:t>
            </a:r>
            <a:endParaRPr lang="en-US" sz="2500" dirty="0">
              <a:solidFill>
                <a:schemeClr val="tx1"/>
              </a:solidFill>
              <a:latin typeface="Tahoma" panose="020B0604030504040204" pitchFamily="34" charset="0"/>
              <a:cs typeface="Tahoma" panose="020B0604030504040204" pitchFamily="34" charset="0"/>
            </a:endParaRPr>
          </a:p>
        </p:txBody>
      </p:sp>
      <p:sp>
        <p:nvSpPr>
          <p:cNvPr id="23" name="Round Diagonal Corner Rectangle 22"/>
          <p:cNvSpPr/>
          <p:nvPr/>
        </p:nvSpPr>
        <p:spPr>
          <a:xfrm>
            <a:off x="5786892" y="3347489"/>
            <a:ext cx="4086722" cy="1630045"/>
          </a:xfrm>
          <a:prstGeom prst="round2DiagRect">
            <a:avLst/>
          </a:prstGeom>
        </p:spPr>
        <p:style>
          <a:lnRef idx="0">
            <a:srgbClr val="FFFFFF"/>
          </a:lnRef>
          <a:fillRef idx="2">
            <a:schemeClr val="accent1"/>
          </a:fillRef>
          <a:effectRef idx="0">
            <a:srgbClr val="FFFFFF"/>
          </a:effectRef>
          <a:fontRef idx="minor">
            <a:schemeClr val="lt1"/>
          </a:fontRef>
        </p:style>
        <p:txBody>
          <a:bodyPr rtlCol="0" anchor="ctr"/>
          <a:lstStyle/>
          <a:p>
            <a:pPr algn="ctr"/>
            <a:r>
              <a:rPr lang="en-US" sz="2500" dirty="0" err="1" smtClean="0">
                <a:solidFill>
                  <a:schemeClr val="tx1"/>
                </a:solidFill>
                <a:latin typeface="Tahoma" panose="020B0604030504040204" pitchFamily="34" charset="0"/>
                <a:cs typeface="Tahoma" panose="020B0604030504040204" pitchFamily="34" charset="0"/>
              </a:rPr>
              <a:t>Xây</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dựng</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thành</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công</a:t>
            </a:r>
            <a:r>
              <a:rPr lang="en-US" sz="2500" dirty="0" smtClean="0">
                <a:solidFill>
                  <a:schemeClr val="tx1"/>
                </a:solidFill>
                <a:latin typeface="Tahoma" panose="020B0604030504040204" pitchFamily="34" charset="0"/>
                <a:cs typeface="Tahoma" panose="020B0604030504040204" pitchFamily="34" charset="0"/>
              </a:rPr>
              <a:t> </a:t>
            </a:r>
            <a:r>
              <a:rPr lang="en-US" sz="2500" smtClean="0">
                <a:solidFill>
                  <a:schemeClr val="tx1"/>
                </a:solidFill>
                <a:latin typeface="Tahoma" panose="020B0604030504040204" pitchFamily="34" charset="0"/>
                <a:cs typeface="Tahoma" panose="020B0604030504040204" pitchFamily="34" charset="0"/>
              </a:rPr>
              <a:t>website </a:t>
            </a:r>
            <a:r>
              <a:rPr lang="en-US" sz="2500" smtClean="0">
                <a:solidFill>
                  <a:schemeClr val="tx1"/>
                </a:solidFill>
                <a:latin typeface="Tahoma" panose="020B0604030504040204" pitchFamily="34" charset="0"/>
                <a:cs typeface="Tahoma" panose="020B0604030504040204" pitchFamily="34" charset="0"/>
              </a:rPr>
              <a:t>bán thủy hải sản</a:t>
            </a:r>
            <a:endParaRPr lang="en-US" sz="2500" dirty="0">
              <a:solidFill>
                <a:schemeClr val="tx1"/>
              </a:solidFill>
              <a:latin typeface="Tahoma" panose="020B0604030504040204" pitchFamily="34" charset="0"/>
              <a:cs typeface="Tahoma" panose="020B0604030504040204" pitchFamily="34" charset="0"/>
            </a:endParaRPr>
          </a:p>
        </p:txBody>
      </p:sp>
      <p:sp>
        <p:nvSpPr>
          <p:cNvPr id="24" name="Round Diagonal Corner Rectangle 23"/>
          <p:cNvSpPr/>
          <p:nvPr/>
        </p:nvSpPr>
        <p:spPr>
          <a:xfrm>
            <a:off x="10592086" y="3347486"/>
            <a:ext cx="2898141" cy="1630045"/>
          </a:xfrm>
          <a:prstGeom prst="round2DiagRect">
            <a:avLst/>
          </a:prstGeom>
        </p:spPr>
        <p:style>
          <a:lnRef idx="0">
            <a:srgbClr val="FFFFFF"/>
          </a:lnRef>
          <a:fillRef idx="2">
            <a:schemeClr val="accent1"/>
          </a:fillRef>
          <a:effectRef idx="0">
            <a:srgbClr val="FFFFFF"/>
          </a:effectRef>
          <a:fontRef idx="minor">
            <a:schemeClr val="lt1"/>
          </a:fontRef>
        </p:style>
        <p:txBody>
          <a:bodyPr rtlCol="0" anchor="ctr"/>
          <a:lstStyle/>
          <a:p>
            <a:pPr algn="ctr"/>
            <a:r>
              <a:rPr lang="en-US" sz="2500" dirty="0" err="1" smtClean="0">
                <a:solidFill>
                  <a:schemeClr val="tx1"/>
                </a:solidFill>
                <a:latin typeface="Tahoma" panose="020B0604030504040204" pitchFamily="34" charset="0"/>
                <a:cs typeface="Tahoma" panose="020B0604030504040204" pitchFamily="34" charset="0"/>
              </a:rPr>
              <a:t>Củng</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cố</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kiến</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thức</a:t>
            </a:r>
            <a:endParaRPr lang="en-US" sz="2500" dirty="0">
              <a:solidFill>
                <a:schemeClr val="tx1"/>
              </a:solidFill>
              <a:latin typeface="Tahoma" panose="020B0604030504040204" pitchFamily="34" charset="0"/>
              <a:cs typeface="Tahoma" panose="020B0604030504040204" pitchFamily="34" charset="0"/>
            </a:endParaRPr>
          </a:p>
        </p:txBody>
      </p:sp>
      <p:sp>
        <p:nvSpPr>
          <p:cNvPr id="25" name="Round Diagonal Corner Rectangle 24"/>
          <p:cNvSpPr/>
          <p:nvPr/>
        </p:nvSpPr>
        <p:spPr>
          <a:xfrm>
            <a:off x="14304966" y="3347487"/>
            <a:ext cx="3449633" cy="1630045"/>
          </a:xfrm>
          <a:prstGeom prst="round2DiagRect">
            <a:avLst/>
          </a:prstGeom>
        </p:spPr>
        <p:style>
          <a:lnRef idx="0">
            <a:srgbClr val="FFFFFF"/>
          </a:lnRef>
          <a:fillRef idx="2">
            <a:schemeClr val="accent1"/>
          </a:fillRef>
          <a:effectRef idx="0">
            <a:srgbClr val="FFFFFF"/>
          </a:effectRef>
          <a:fontRef idx="minor">
            <a:schemeClr val="lt1"/>
          </a:fontRef>
        </p:style>
        <p:txBody>
          <a:bodyPr rtlCol="0" anchor="ctr"/>
          <a:lstStyle/>
          <a:p>
            <a:pPr algn="ctr"/>
            <a:r>
              <a:rPr lang="en-US" sz="2500" dirty="0" err="1" smtClean="0">
                <a:solidFill>
                  <a:schemeClr val="tx1"/>
                </a:solidFill>
                <a:latin typeface="Tahoma" panose="020B0604030504040204" pitchFamily="34" charset="0"/>
                <a:cs typeface="Tahoma" panose="020B0604030504040204" pitchFamily="34" charset="0"/>
              </a:rPr>
              <a:t>Có</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kinh</a:t>
            </a:r>
            <a:r>
              <a:rPr lang="en-US" sz="2500" dirty="0" smtClean="0">
                <a:solidFill>
                  <a:schemeClr val="tx1"/>
                </a:solidFill>
                <a:latin typeface="Tahoma" panose="020B0604030504040204" pitchFamily="34" charset="0"/>
                <a:cs typeface="Tahoma" panose="020B0604030504040204" pitchFamily="34" charset="0"/>
              </a:rPr>
              <a:t> </a:t>
            </a:r>
            <a:r>
              <a:rPr lang="en-US" sz="2500" dirty="0" err="1" smtClean="0">
                <a:solidFill>
                  <a:schemeClr val="tx1"/>
                </a:solidFill>
                <a:latin typeface="Tahoma" panose="020B0604030504040204" pitchFamily="34" charset="0"/>
                <a:cs typeface="Tahoma" panose="020B0604030504040204" pitchFamily="34" charset="0"/>
              </a:rPr>
              <a:t>nghiệm</a:t>
            </a:r>
            <a:r>
              <a:rPr lang="en-US" sz="2500" dirty="0" smtClean="0">
                <a:solidFill>
                  <a:schemeClr val="tx1"/>
                </a:solidFill>
                <a:latin typeface="Tahoma" panose="020B0604030504040204" pitchFamily="34" charset="0"/>
                <a:cs typeface="Tahoma" panose="020B0604030504040204" pitchFamily="34" charset="0"/>
              </a:rPr>
              <a:t> </a:t>
            </a:r>
            <a:r>
              <a:rPr lang="en-US" sz="2500" err="1" smtClean="0">
                <a:solidFill>
                  <a:schemeClr val="tx1"/>
                </a:solidFill>
                <a:latin typeface="Tahoma" panose="020B0604030504040204" pitchFamily="34" charset="0"/>
                <a:cs typeface="Tahoma" panose="020B0604030504040204" pitchFamily="34" charset="0"/>
              </a:rPr>
              <a:t>cho</a:t>
            </a:r>
            <a:r>
              <a:rPr lang="en-US" sz="2500" smtClean="0">
                <a:solidFill>
                  <a:schemeClr val="tx1"/>
                </a:solidFill>
                <a:latin typeface="Tahoma" panose="020B0604030504040204" pitchFamily="34" charset="0"/>
                <a:cs typeface="Tahoma" panose="020B0604030504040204" pitchFamily="34" charset="0"/>
              </a:rPr>
              <a:t> </a:t>
            </a:r>
            <a:r>
              <a:rPr lang="en-US" sz="2500" smtClean="0">
                <a:solidFill>
                  <a:schemeClr val="tx1"/>
                </a:solidFill>
                <a:latin typeface="Tahoma" panose="020B0604030504040204" pitchFamily="34" charset="0"/>
                <a:cs typeface="Tahoma" panose="020B0604030504040204" pitchFamily="34" charset="0"/>
              </a:rPr>
              <a:t>khóa luân tốt nghiệp</a:t>
            </a:r>
            <a:endParaRPr lang="en-US" sz="2500" dirty="0">
              <a:solidFill>
                <a:schemeClr val="tx1"/>
              </a:solidFill>
              <a:latin typeface="Tahoma" panose="020B0604030504040204" pitchFamily="34" charset="0"/>
              <a:cs typeface="Tahoma" panose="020B0604030504040204" pitchFamily="34" charset="0"/>
            </a:endParaRPr>
          </a:p>
        </p:txBody>
      </p:sp>
      <p:grpSp>
        <p:nvGrpSpPr>
          <p:cNvPr id="29" name="Group 28"/>
          <p:cNvGrpSpPr/>
          <p:nvPr/>
        </p:nvGrpSpPr>
        <p:grpSpPr>
          <a:xfrm>
            <a:off x="915950" y="1154822"/>
            <a:ext cx="4870942" cy="926436"/>
            <a:chOff x="6817998" y="4506384"/>
            <a:chExt cx="4870942" cy="926436"/>
          </a:xfrm>
        </p:grpSpPr>
        <p:sp>
          <p:nvSpPr>
            <p:cNvPr id="30" name="任意多边形 96"/>
            <p:cNvSpPr/>
            <p:nvPr>
              <p:custDataLst>
                <p:tags r:id="rId1"/>
              </p:custDataLst>
            </p:nvPr>
          </p:nvSpPr>
          <p:spPr>
            <a:xfrm>
              <a:off x="7353701" y="4626840"/>
              <a:ext cx="4335239"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fontScale="97500"/>
            </a:bodyPr>
            <a:lstStyle/>
            <a:p>
              <a:pPr algn="ctr">
                <a:defRPr/>
              </a:pPr>
              <a:r>
                <a:rPr lang="en-US" altLang="zh-CN" sz="2400" dirty="0">
                  <a:solidFill>
                    <a:schemeClr val="accent1">
                      <a:lumMod val="50000"/>
                    </a:schemeClr>
                  </a:solidFill>
                  <a:ea typeface="华文细黑" panose="02010600040101010101" pitchFamily="2" charset="-122"/>
                </a:rPr>
                <a:t> </a:t>
              </a:r>
              <a:r>
                <a:rPr lang="en-US" altLang="zh-CN" sz="2400" dirty="0" err="1">
                  <a:solidFill>
                    <a:schemeClr val="accent1">
                      <a:lumMod val="50000"/>
                    </a:schemeClr>
                  </a:solidFill>
                  <a:ea typeface="华文细黑" panose="02010600040101010101" pitchFamily="2" charset="-122"/>
                </a:rPr>
                <a:t>Kết</a:t>
              </a:r>
              <a:r>
                <a:rPr lang="en-US" altLang="zh-CN" sz="2400" dirty="0">
                  <a:solidFill>
                    <a:schemeClr val="accent1">
                      <a:lumMod val="50000"/>
                    </a:schemeClr>
                  </a:solidFill>
                  <a:ea typeface="华文细黑" panose="02010600040101010101" pitchFamily="2" charset="-122"/>
                </a:rPr>
                <a:t> </a:t>
              </a:r>
              <a:r>
                <a:rPr lang="en-US" altLang="zh-CN" sz="2400" dirty="0" err="1">
                  <a:solidFill>
                    <a:schemeClr val="accent1">
                      <a:lumMod val="50000"/>
                    </a:schemeClr>
                  </a:solidFill>
                  <a:ea typeface="华文细黑" panose="02010600040101010101" pitchFamily="2" charset="-122"/>
                </a:rPr>
                <a:t>luận</a:t>
              </a:r>
              <a:r>
                <a:rPr lang="en-US" altLang="zh-CN" sz="2400" dirty="0">
                  <a:solidFill>
                    <a:schemeClr val="accent1">
                      <a:lumMod val="50000"/>
                    </a:schemeClr>
                  </a:solidFill>
                  <a:ea typeface="华文细黑" panose="02010600040101010101" pitchFamily="2" charset="-122"/>
                </a:rPr>
                <a:t> </a:t>
              </a:r>
              <a:r>
                <a:rPr lang="en-US" altLang="zh-CN" sz="2400" dirty="0" err="1">
                  <a:solidFill>
                    <a:schemeClr val="accent1">
                      <a:lumMod val="50000"/>
                    </a:schemeClr>
                  </a:solidFill>
                  <a:ea typeface="华文细黑" panose="02010600040101010101" pitchFamily="2" charset="-122"/>
                </a:rPr>
                <a:t>và</a:t>
              </a:r>
              <a:r>
                <a:rPr lang="en-US" altLang="zh-CN" sz="2400" dirty="0">
                  <a:solidFill>
                    <a:schemeClr val="accent1">
                      <a:lumMod val="50000"/>
                    </a:schemeClr>
                  </a:solidFill>
                  <a:ea typeface="华文细黑" panose="02010600040101010101" pitchFamily="2" charset="-122"/>
                </a:rPr>
                <a:t> </a:t>
              </a:r>
              <a:r>
                <a:rPr lang="en-US" altLang="zh-CN" sz="2400" dirty="0" err="1">
                  <a:solidFill>
                    <a:schemeClr val="accent1">
                      <a:lumMod val="50000"/>
                    </a:schemeClr>
                  </a:solidFill>
                  <a:ea typeface="华文细黑" panose="02010600040101010101" pitchFamily="2" charset="-122"/>
                </a:rPr>
                <a:t>hướng</a:t>
              </a:r>
              <a:r>
                <a:rPr lang="en-US" altLang="zh-CN" sz="2400" dirty="0">
                  <a:solidFill>
                    <a:schemeClr val="accent1">
                      <a:lumMod val="50000"/>
                    </a:schemeClr>
                  </a:solidFill>
                  <a:ea typeface="华文细黑" panose="02010600040101010101" pitchFamily="2" charset="-122"/>
                </a:rPr>
                <a:t> </a:t>
              </a:r>
              <a:r>
                <a:rPr lang="en-US" altLang="zh-CN" sz="2400" dirty="0" err="1">
                  <a:solidFill>
                    <a:schemeClr val="accent1">
                      <a:lumMod val="50000"/>
                    </a:schemeClr>
                  </a:solidFill>
                  <a:ea typeface="华文细黑" panose="02010600040101010101" pitchFamily="2" charset="-122"/>
                </a:rPr>
                <a:t>phát</a:t>
              </a:r>
              <a:r>
                <a:rPr lang="en-US" altLang="zh-CN" sz="2400" dirty="0">
                  <a:solidFill>
                    <a:schemeClr val="accent1">
                      <a:lumMod val="50000"/>
                    </a:schemeClr>
                  </a:solidFill>
                  <a:ea typeface="华文细黑" panose="02010600040101010101" pitchFamily="2" charset="-122"/>
                </a:rPr>
                <a:t> </a:t>
              </a:r>
              <a:r>
                <a:rPr lang="en-US" altLang="zh-CN" sz="2400" dirty="0" err="1" smtClean="0">
                  <a:solidFill>
                    <a:schemeClr val="accent1">
                      <a:lumMod val="50000"/>
                    </a:schemeClr>
                  </a:solidFill>
                  <a:ea typeface="华文细黑" panose="02010600040101010101" pitchFamily="2" charset="-122"/>
                </a:rPr>
                <a:t>triển</a:t>
              </a:r>
              <a:endParaRPr lang="en-US" altLang="zh-CN" sz="2400" dirty="0">
                <a:solidFill>
                  <a:schemeClr val="accent1">
                    <a:lumMod val="50000"/>
                  </a:schemeClr>
                </a:solidFill>
                <a:ea typeface="华文细黑" panose="02010600040101010101" pitchFamily="2" charset="-122"/>
              </a:endParaRPr>
            </a:p>
          </p:txBody>
        </p:sp>
        <p:sp>
          <p:nvSpPr>
            <p:cNvPr id="31" name="椭圆 33"/>
            <p:cNvSpPr/>
            <p:nvPr>
              <p:custDataLst>
                <p:tags r:id="rId2"/>
              </p:custDataLst>
            </p:nvPr>
          </p:nvSpPr>
          <p:spPr>
            <a:xfrm>
              <a:off x="6817998" y="4506384"/>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mn-lt"/>
                  <a:ea typeface="华文细黑" panose="02010600040101010101" pitchFamily="2" charset="-122"/>
                </a:rPr>
                <a:t>D</a:t>
              </a:r>
              <a:endParaRPr lang="zh-CN" altLang="en-US" sz="2800" dirty="0">
                <a:solidFill>
                  <a:srgbClr val="FFFFFF"/>
                </a:solidFill>
                <a:latin typeface="+mn-lt"/>
                <a:ea typeface="华文细黑" panose="02010600040101010101" pitchFamily="2" charset="-122"/>
              </a:endParaRP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down)">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down)">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down)">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4" name="TextBox 34"/>
          <p:cNvSpPr txBox="1"/>
          <p:nvPr/>
        </p:nvSpPr>
        <p:spPr>
          <a:xfrm>
            <a:off x="533400" y="-48957"/>
            <a:ext cx="15621000" cy="1437509"/>
          </a:xfrm>
          <a:prstGeom prst="rect">
            <a:avLst/>
          </a:prstGeom>
        </p:spPr>
        <p:txBody>
          <a:bodyPr wrap="square" lIns="0" tIns="0" rIns="0" bIns="0" rtlCol="0" anchor="t">
            <a:spAutoFit/>
          </a:bodyPr>
          <a:lstStyle/>
          <a:p>
            <a:pPr>
              <a:lnSpc>
                <a:spcPts val="13307"/>
              </a:lnSpc>
            </a:pPr>
            <a:r>
              <a:rPr lang="en-US" sz="5000">
                <a:latin typeface="Cabin Bold" panose="020B0604020202020204" charset="0"/>
                <a:ea typeface="Cabin"/>
                <a:cs typeface="Cabin"/>
                <a:sym typeface="Cabin"/>
              </a:rPr>
              <a:t>XÂY DỰNG WEBSITE BÁN THỦY HẢI SẢN</a:t>
            </a:r>
            <a:endParaRPr lang="en-US" sz="5000">
              <a:latin typeface="Cabin Bold" panose="020B0604020202020204" charset="0"/>
              <a:ea typeface="Cabin"/>
              <a:cs typeface="Cabin"/>
              <a:sym typeface="Cabin"/>
            </a:endParaRPr>
          </a:p>
        </p:txBody>
      </p:sp>
      <p:pic>
        <p:nvPicPr>
          <p:cNvPr id="47" name="图片 2"/>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85800" y="2247900"/>
            <a:ext cx="6237206" cy="6533887"/>
          </a:xfrm>
          <a:prstGeom prst="rect">
            <a:avLst/>
          </a:prstGeom>
        </p:spPr>
      </p:pic>
      <p:sp>
        <p:nvSpPr>
          <p:cNvPr id="48" name="Text Box 4"/>
          <p:cNvSpPr txBox="1"/>
          <p:nvPr/>
        </p:nvSpPr>
        <p:spPr>
          <a:xfrm>
            <a:off x="2057400" y="5005776"/>
            <a:ext cx="3879415" cy="838200"/>
          </a:xfrm>
          <a:prstGeom prst="rect">
            <a:avLst/>
          </a:prstGeom>
          <a:noFill/>
        </p:spPr>
        <p:txBody>
          <a:bodyPr wrap="square" rtlCol="0">
            <a:noAutofit/>
          </a:bodyPr>
          <a:lstStyle/>
          <a:p>
            <a:pPr algn="ctr"/>
            <a:r>
              <a:rPr lang="en-US" sz="4000" b="1" dirty="0">
                <a:latin typeface="Tahoma" panose="020B0604030504040204" pitchFamily="34" charset="0"/>
                <a:cs typeface="Tahoma" panose="020B0604030504040204" pitchFamily="34" charset="0"/>
              </a:rPr>
              <a:t>NỘI DUNG</a:t>
            </a:r>
          </a:p>
        </p:txBody>
      </p:sp>
      <p:grpSp>
        <p:nvGrpSpPr>
          <p:cNvPr id="52" name="Group 51"/>
          <p:cNvGrpSpPr/>
          <p:nvPr/>
        </p:nvGrpSpPr>
        <p:grpSpPr>
          <a:xfrm>
            <a:off x="9296400" y="2230120"/>
            <a:ext cx="6858000" cy="1167484"/>
            <a:chOff x="6818260" y="889500"/>
            <a:chExt cx="4790011" cy="926436"/>
          </a:xfrm>
        </p:grpSpPr>
        <p:sp>
          <p:nvSpPr>
            <p:cNvPr id="53" name="任意多边形 96"/>
            <p:cNvSpPr/>
            <p:nvPr>
              <p:custDataLst>
                <p:tags r:id="rId7"/>
              </p:custDataLst>
            </p:nvPr>
          </p:nvSpPr>
          <p:spPr>
            <a:xfrm>
              <a:off x="7198888" y="1006235"/>
              <a:ext cx="4409383"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Lý</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thuyết</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54" name="椭圆 29"/>
            <p:cNvSpPr/>
            <p:nvPr>
              <p:custDataLst>
                <p:tags r:id="rId8"/>
              </p:custDataLst>
            </p:nvPr>
          </p:nvSpPr>
          <p:spPr>
            <a:xfrm>
              <a:off x="6818260" y="889500"/>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A</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55" name="Group 54"/>
          <p:cNvGrpSpPr/>
          <p:nvPr/>
        </p:nvGrpSpPr>
        <p:grpSpPr>
          <a:xfrm>
            <a:off x="9296400" y="3887742"/>
            <a:ext cx="6858000" cy="1118033"/>
            <a:chOff x="6817679" y="2697925"/>
            <a:chExt cx="4871260" cy="926436"/>
          </a:xfrm>
        </p:grpSpPr>
        <p:sp>
          <p:nvSpPr>
            <p:cNvPr id="56" name="任意多边形 96"/>
            <p:cNvSpPr/>
            <p:nvPr>
              <p:custDataLst>
                <p:tags r:id="rId5"/>
              </p:custDataLst>
            </p:nvPr>
          </p:nvSpPr>
          <p:spPr>
            <a:xfrm>
              <a:off x="7279556" y="2818415"/>
              <a:ext cx="4409383"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Quá</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trình</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thực</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hiện</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57" name="椭圆 31"/>
            <p:cNvSpPr/>
            <p:nvPr>
              <p:custDataLst>
                <p:tags r:id="rId6"/>
              </p:custDataLst>
            </p:nvPr>
          </p:nvSpPr>
          <p:spPr>
            <a:xfrm>
              <a:off x="6817679" y="2697925"/>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B</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58" name="Group 57"/>
          <p:cNvGrpSpPr/>
          <p:nvPr/>
        </p:nvGrpSpPr>
        <p:grpSpPr>
          <a:xfrm>
            <a:off x="9296400" y="5424876"/>
            <a:ext cx="6858000" cy="1166424"/>
            <a:chOff x="6817998" y="4506384"/>
            <a:chExt cx="4870942" cy="926436"/>
          </a:xfrm>
        </p:grpSpPr>
        <p:sp>
          <p:nvSpPr>
            <p:cNvPr id="59" name="任意多边形 96"/>
            <p:cNvSpPr/>
            <p:nvPr>
              <p:custDataLst>
                <p:tags r:id="rId3"/>
              </p:custDataLst>
            </p:nvPr>
          </p:nvSpPr>
          <p:spPr>
            <a:xfrm>
              <a:off x="7353701" y="4626840"/>
              <a:ext cx="4335239"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a:bodyPr>
            <a:lstStyle/>
            <a:p>
              <a:pPr algn="ctr">
                <a:defRPr/>
              </a:pP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Kết</a:t>
              </a:r>
              <a:r>
                <a:rPr lang="en-US" altLang="zh-CN" sz="2400" dirty="0"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quả</a:t>
              </a:r>
              <a:r>
                <a:rPr lang="en-US" altLang="zh-CN" sz="2400" dirty="0"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nghiên</a:t>
              </a:r>
              <a:r>
                <a:rPr lang="en-US" altLang="zh-CN" sz="2400" dirty="0"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smtClean="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cứu</a:t>
              </a:r>
              <a:endPar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endParaRPr>
            </a:p>
          </p:txBody>
        </p:sp>
        <p:sp>
          <p:nvSpPr>
            <p:cNvPr id="60" name="椭圆 33"/>
            <p:cNvSpPr/>
            <p:nvPr>
              <p:custDataLst>
                <p:tags r:id="rId4"/>
              </p:custDataLst>
            </p:nvPr>
          </p:nvSpPr>
          <p:spPr>
            <a:xfrm>
              <a:off x="6817998" y="4506384"/>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C</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grpSp>
        <p:nvGrpSpPr>
          <p:cNvPr id="61" name="Group 60"/>
          <p:cNvGrpSpPr/>
          <p:nvPr/>
        </p:nvGrpSpPr>
        <p:grpSpPr>
          <a:xfrm>
            <a:off x="9296400" y="7010314"/>
            <a:ext cx="6858000" cy="1153360"/>
            <a:chOff x="6817998" y="4506384"/>
            <a:chExt cx="4870942" cy="926436"/>
          </a:xfrm>
        </p:grpSpPr>
        <p:sp>
          <p:nvSpPr>
            <p:cNvPr id="62" name="任意多边形 96"/>
            <p:cNvSpPr/>
            <p:nvPr>
              <p:custDataLst>
                <p:tags r:id="rId1"/>
              </p:custDataLst>
            </p:nvPr>
          </p:nvSpPr>
          <p:spPr>
            <a:xfrm>
              <a:off x="7353701" y="4626840"/>
              <a:ext cx="4335239"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fontScale="97500"/>
            </a:bodyPr>
            <a:lstStyle/>
            <a:p>
              <a:pPr algn="ctr">
                <a:defRPr/>
              </a:pP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Kết luận và hướng phát triển</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a:t>
              </a:r>
            </a:p>
          </p:txBody>
        </p:sp>
        <p:sp>
          <p:nvSpPr>
            <p:cNvPr id="63" name="椭圆 33"/>
            <p:cNvSpPr/>
            <p:nvPr>
              <p:custDataLst>
                <p:tags r:id="rId2"/>
              </p:custDataLst>
            </p:nvPr>
          </p:nvSpPr>
          <p:spPr>
            <a:xfrm>
              <a:off x="6817998" y="4506384"/>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D</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spTree>
    <p:extLst>
      <p:ext uri="{BB962C8B-B14F-4D97-AF65-F5344CB8AC3E}">
        <p14:creationId xmlns:p14="http://schemas.microsoft.com/office/powerpoint/2010/main" val="120787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500"/>
                                        <p:tgtEl>
                                          <p:spTgt spid="5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
                                        </p:tgtEl>
                                        <p:attrNameLst>
                                          <p:attrName>style.visibility</p:attrName>
                                        </p:attrNameLst>
                                      </p:cBhvr>
                                      <p:to>
                                        <p:strVal val="visible"/>
                                      </p:to>
                                    </p:set>
                                    <p:animEffect transition="in" filter="fade">
                                      <p:cBhvr>
                                        <p:cTn id="17" dur="500"/>
                                        <p:tgtEl>
                                          <p:spTgt spid="5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grpSp>
        <p:nvGrpSpPr>
          <p:cNvPr id="45" name="Group 44"/>
          <p:cNvGrpSpPr/>
          <p:nvPr/>
        </p:nvGrpSpPr>
        <p:grpSpPr>
          <a:xfrm>
            <a:off x="304800" y="266700"/>
            <a:ext cx="6858000" cy="1153360"/>
            <a:chOff x="6817998" y="4506384"/>
            <a:chExt cx="4870942" cy="926436"/>
          </a:xfrm>
        </p:grpSpPr>
        <p:sp>
          <p:nvSpPr>
            <p:cNvPr id="46" name="任意多边形 96"/>
            <p:cNvSpPr/>
            <p:nvPr>
              <p:custDataLst>
                <p:tags r:id="rId1"/>
              </p:custDataLst>
            </p:nvPr>
          </p:nvSpPr>
          <p:spPr>
            <a:xfrm>
              <a:off x="7353701" y="4626840"/>
              <a:ext cx="4335239"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fontScale="97500"/>
            </a:bodyPr>
            <a:lstStyle/>
            <a:p>
              <a:pPr algn="ctr">
                <a:defRPr/>
              </a:pP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Kết luận và hướng phát triển</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a:t>
              </a:r>
            </a:p>
          </p:txBody>
        </p:sp>
        <p:sp>
          <p:nvSpPr>
            <p:cNvPr id="47" name="椭圆 33"/>
            <p:cNvSpPr/>
            <p:nvPr>
              <p:custDataLst>
                <p:tags r:id="rId2"/>
              </p:custDataLst>
            </p:nvPr>
          </p:nvSpPr>
          <p:spPr>
            <a:xfrm>
              <a:off x="6817998" y="4506384"/>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D</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sp>
        <p:nvSpPr>
          <p:cNvPr id="49" name="Rectangle 48"/>
          <p:cNvSpPr/>
          <p:nvPr/>
        </p:nvSpPr>
        <p:spPr>
          <a:xfrm>
            <a:off x="1905000" y="2380797"/>
            <a:ext cx="13747750" cy="1169551"/>
          </a:xfrm>
          <a:prstGeom prst="rect">
            <a:avLst/>
          </a:prstGeom>
        </p:spPr>
        <p:txBody>
          <a:bodyPr wrap="square">
            <a:spAutoFit/>
          </a:bodyPr>
          <a:lstStyle/>
          <a:p>
            <a:pPr algn="just"/>
            <a:r>
              <a:rPr lang="en-US" sz="3500">
                <a:latin typeface="Cabin Bold" panose="020B0604020202020204" charset="0"/>
                <a:ea typeface="Times New Roman" panose="02020603050405020304" pitchFamily="18" charset="0"/>
              </a:rPr>
              <a:t>Thứ nhất, về những kết quả đạt được: dự án đã xây dựng thành công một nền tảng website hoàn chỉnh dựa trên công nghệ MERN stack.</a:t>
            </a:r>
            <a:endParaRPr lang="en-US" sz="3500">
              <a:latin typeface="Cabin Bold" panose="020B0604020202020204" charset="0"/>
            </a:endParaRPr>
          </a:p>
        </p:txBody>
      </p:sp>
      <p:sp>
        <p:nvSpPr>
          <p:cNvPr id="50" name="Rectangle 49"/>
          <p:cNvSpPr/>
          <p:nvPr/>
        </p:nvSpPr>
        <p:spPr>
          <a:xfrm>
            <a:off x="1905000" y="3999063"/>
            <a:ext cx="13747750" cy="2246769"/>
          </a:xfrm>
          <a:prstGeom prst="rect">
            <a:avLst/>
          </a:prstGeom>
        </p:spPr>
        <p:txBody>
          <a:bodyPr wrap="square">
            <a:spAutoFit/>
          </a:bodyPr>
          <a:lstStyle/>
          <a:p>
            <a:pPr algn="just"/>
            <a:r>
              <a:rPr lang="en-US" sz="3500">
                <a:latin typeface="Cabin Bold" panose="020B0604020202020204" charset="0"/>
                <a:ea typeface="Times New Roman" panose="02020603050405020304" pitchFamily="18" charset="0"/>
              </a:rPr>
              <a:t>Thứ hai, việc tích hợp thành công cơ chế bảo mật đa lớp với xác thực người dùng đã tạo ra một môi trường giao dịch an toàn cho khách hàng, đồng thời tối ưu hóa tốc độ tải trang thông qua kiến trúc single page application của React.js.</a:t>
            </a:r>
            <a:endParaRPr lang="en-US" sz="3500">
              <a:latin typeface="Cabin Bold" panose="020B0604020202020204" charset="0"/>
            </a:endParaRPr>
          </a:p>
        </p:txBody>
      </p:sp>
      <p:sp>
        <p:nvSpPr>
          <p:cNvPr id="51" name="Text Placeholder 1"/>
          <p:cNvSpPr txBox="1">
            <a:spLocks/>
          </p:cNvSpPr>
          <p:nvPr/>
        </p:nvSpPr>
        <p:spPr>
          <a:xfrm>
            <a:off x="1371600" y="983797"/>
            <a:ext cx="8727140" cy="1397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500" b="1" smtClean="0">
                <a:solidFill>
                  <a:schemeClr val="tx1"/>
                </a:solidFill>
              </a:rPr>
              <a:t>I. Kết luận:</a:t>
            </a:r>
            <a:endParaRPr lang="en-US" sz="35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grpSp>
        <p:nvGrpSpPr>
          <p:cNvPr id="45" name="Group 44"/>
          <p:cNvGrpSpPr/>
          <p:nvPr/>
        </p:nvGrpSpPr>
        <p:grpSpPr>
          <a:xfrm>
            <a:off x="304800" y="266700"/>
            <a:ext cx="6858000" cy="1153360"/>
            <a:chOff x="6817998" y="4506384"/>
            <a:chExt cx="4870942" cy="926436"/>
          </a:xfrm>
        </p:grpSpPr>
        <p:sp>
          <p:nvSpPr>
            <p:cNvPr id="46" name="任意多边形 96"/>
            <p:cNvSpPr/>
            <p:nvPr>
              <p:custDataLst>
                <p:tags r:id="rId1"/>
              </p:custDataLst>
            </p:nvPr>
          </p:nvSpPr>
          <p:spPr>
            <a:xfrm>
              <a:off x="7353701" y="4626840"/>
              <a:ext cx="4335239" cy="685456"/>
            </a:xfrm>
            <a:custGeom>
              <a:avLst/>
              <a:gdLst>
                <a:gd name="connsiteX0" fmla="*/ 184972 w 2026745"/>
                <a:gd name="connsiteY0" fmla="*/ 0 h 406076"/>
                <a:gd name="connsiteX1" fmla="*/ 1841773 w 2026745"/>
                <a:gd name="connsiteY1" fmla="*/ 0 h 406076"/>
                <a:gd name="connsiteX2" fmla="*/ 2026745 w 2026745"/>
                <a:gd name="connsiteY2" fmla="*/ 184972 h 406076"/>
                <a:gd name="connsiteX3" fmla="*/ 2026745 w 2026745"/>
                <a:gd name="connsiteY3" fmla="*/ 221104 h 406076"/>
                <a:gd name="connsiteX4" fmla="*/ 1841773 w 2026745"/>
                <a:gd name="connsiteY4" fmla="*/ 406076 h 406076"/>
                <a:gd name="connsiteX5" fmla="*/ 184972 w 2026745"/>
                <a:gd name="connsiteY5" fmla="*/ 406076 h 406076"/>
                <a:gd name="connsiteX6" fmla="*/ 0 w 2026745"/>
                <a:gd name="connsiteY6" fmla="*/ 221104 h 406076"/>
                <a:gd name="connsiteX7" fmla="*/ 0 w 2026745"/>
                <a:gd name="connsiteY7" fmla="*/ 184972 h 406076"/>
                <a:gd name="connsiteX8" fmla="*/ 184972 w 2026745"/>
                <a:gd name="connsiteY8" fmla="*/ 0 h 40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26745" h="406076">
                  <a:moveTo>
                    <a:pt x="184972" y="0"/>
                  </a:moveTo>
                  <a:lnTo>
                    <a:pt x="1841773" y="0"/>
                  </a:lnTo>
                  <a:cubicBezTo>
                    <a:pt x="1943930" y="0"/>
                    <a:pt x="2026745" y="82815"/>
                    <a:pt x="2026745" y="184972"/>
                  </a:cubicBezTo>
                  <a:lnTo>
                    <a:pt x="2026745" y="221104"/>
                  </a:lnTo>
                  <a:cubicBezTo>
                    <a:pt x="2026745" y="323261"/>
                    <a:pt x="1943930" y="406076"/>
                    <a:pt x="1841773" y="406076"/>
                  </a:cubicBezTo>
                  <a:lnTo>
                    <a:pt x="184972" y="406076"/>
                  </a:lnTo>
                  <a:cubicBezTo>
                    <a:pt x="82815" y="406076"/>
                    <a:pt x="0" y="323261"/>
                    <a:pt x="0" y="221104"/>
                  </a:cubicBezTo>
                  <a:lnTo>
                    <a:pt x="0" y="184972"/>
                  </a:lnTo>
                  <a:cubicBezTo>
                    <a:pt x="0" y="82815"/>
                    <a:pt x="82815" y="0"/>
                    <a:pt x="184972" y="0"/>
                  </a:cubicBezTo>
                  <a:close/>
                </a:path>
              </a:pathLst>
            </a:custGeom>
            <a:solidFill>
              <a:srgbClr val="FFFFFF"/>
            </a:solidFill>
            <a:ln w="41275">
              <a:solidFill>
                <a:schemeClr val="accent3">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288000" anchor="ctr">
              <a:normAutofit fontScale="97500"/>
            </a:bodyPr>
            <a:lstStyle/>
            <a:p>
              <a:pPr algn="ctr">
                <a:defRPr/>
              </a:pP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 </a:t>
              </a:r>
              <a:r>
                <a:rPr lang="en-US" altLang="zh-CN" sz="2400" dirty="0" err="1">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Kết luận và hướng phát triển</a:t>
              </a:r>
              <a:r>
                <a:rPr lang="en-US" altLang="zh-CN" sz="2400" dirty="0">
                  <a:solidFill>
                    <a:schemeClr val="accent1">
                      <a:lumMod val="50000"/>
                    </a:schemeClr>
                  </a:solidFill>
                  <a:latin typeface="Tahoma" panose="020B0604030504040204" pitchFamily="34" charset="0"/>
                  <a:ea typeface="华文细黑" panose="02010600040101010101" pitchFamily="2" charset="-122"/>
                  <a:cs typeface="Tahoma" panose="020B0604030504040204" pitchFamily="34" charset="0"/>
                </a:rPr>
                <a:t>.</a:t>
              </a:r>
            </a:p>
          </p:txBody>
        </p:sp>
        <p:sp>
          <p:nvSpPr>
            <p:cNvPr id="47" name="椭圆 33"/>
            <p:cNvSpPr/>
            <p:nvPr>
              <p:custDataLst>
                <p:tags r:id="rId2"/>
              </p:custDataLst>
            </p:nvPr>
          </p:nvSpPr>
          <p:spPr>
            <a:xfrm>
              <a:off x="6817998" y="4506384"/>
              <a:ext cx="923757" cy="926436"/>
            </a:xfrm>
            <a:prstGeom prst="ellipse">
              <a:avLst/>
            </a:prstGeom>
            <a:solidFill>
              <a:schemeClr val="accent1">
                <a:lumMod val="75000"/>
              </a:schemeClr>
            </a:solidFill>
            <a:ln w="44450">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Arial Narrow" panose="020B0606020202030204" pitchFamily="34" charset="0"/>
                  <a:ea typeface="Microsoft YaHei" panose="020B0503020204020204" pitchFamily="34" charset="-122"/>
                </a:defRPr>
              </a:lvl1pPr>
              <a:lvl2pPr marL="742950" indent="-285750">
                <a:defRPr>
                  <a:solidFill>
                    <a:schemeClr val="tx1"/>
                  </a:solidFill>
                  <a:latin typeface="Arial Narrow" panose="020B0606020202030204" pitchFamily="34" charset="0"/>
                  <a:ea typeface="Microsoft YaHei" panose="020B0503020204020204" pitchFamily="34" charset="-122"/>
                </a:defRPr>
              </a:lvl2pPr>
              <a:lvl3pPr marL="1143000" indent="-228600">
                <a:defRPr>
                  <a:solidFill>
                    <a:schemeClr val="tx1"/>
                  </a:solidFill>
                  <a:latin typeface="Arial Narrow" panose="020B0606020202030204" pitchFamily="34" charset="0"/>
                  <a:ea typeface="Microsoft YaHei" panose="020B0503020204020204" pitchFamily="34" charset="-122"/>
                </a:defRPr>
              </a:lvl3pPr>
              <a:lvl4pPr marL="1600200" indent="-228600">
                <a:defRPr>
                  <a:solidFill>
                    <a:schemeClr val="tx1"/>
                  </a:solidFill>
                  <a:latin typeface="Arial Narrow" panose="020B0606020202030204" pitchFamily="34" charset="0"/>
                  <a:ea typeface="Microsoft YaHei" panose="020B0503020204020204" pitchFamily="34" charset="-122"/>
                </a:defRPr>
              </a:lvl4pPr>
              <a:lvl5pPr marL="2057400" indent="-228600">
                <a:defRPr>
                  <a:solidFill>
                    <a:schemeClr val="tx1"/>
                  </a:solidFill>
                  <a:latin typeface="Arial Narrow" panose="020B0606020202030204" pitchFamily="34" charset="0"/>
                  <a:ea typeface="Microsoft YaHei" panose="020B0503020204020204" pitchFamily="34" charset="-122"/>
                </a:defRPr>
              </a:lvl5pPr>
              <a:lvl6pPr marL="25146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6pPr>
              <a:lvl7pPr marL="29718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7pPr>
              <a:lvl8pPr marL="34290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8pPr>
              <a:lvl9pPr marL="3886200" indent="-228600" fontAlgn="base">
                <a:spcBef>
                  <a:spcPct val="0"/>
                </a:spcBef>
                <a:spcAft>
                  <a:spcPct val="0"/>
                </a:spcAft>
                <a:defRPr>
                  <a:solidFill>
                    <a:schemeClr val="tx1"/>
                  </a:solidFill>
                  <a:latin typeface="Arial Narrow" panose="020B0606020202030204" pitchFamily="34" charset="0"/>
                  <a:ea typeface="Microsoft YaHei" panose="020B0503020204020204" pitchFamily="34" charset="-122"/>
                </a:defRPr>
              </a:lvl9pPr>
            </a:lstStyle>
            <a:p>
              <a:pPr algn="ctr" eaLnBrk="1" hangingPunct="1">
                <a:defRPr/>
              </a:pPr>
              <a:r>
                <a:rPr lang="en-US" altLang="zh-CN" sz="2800" dirty="0">
                  <a:solidFill>
                    <a:srgbClr val="FFFFFF"/>
                  </a:solidFill>
                  <a:latin typeface="Tahoma" panose="020B0604030504040204" pitchFamily="34" charset="0"/>
                  <a:ea typeface="华文细黑" panose="02010600040101010101" pitchFamily="2" charset="-122"/>
                  <a:cs typeface="Tahoma" panose="020B0604030504040204" pitchFamily="34" charset="0"/>
                </a:rPr>
                <a:t>D</a:t>
              </a:r>
              <a:endParaRPr lang="zh-CN" altLang="en-US" sz="2800" dirty="0">
                <a:solidFill>
                  <a:srgbClr val="FFFFFF"/>
                </a:solidFill>
                <a:latin typeface="Tahoma" panose="020B0604030504040204" pitchFamily="34" charset="0"/>
                <a:ea typeface="华文细黑" panose="02010600040101010101" pitchFamily="2" charset="-122"/>
                <a:cs typeface="Tahoma" panose="020B0604030504040204" pitchFamily="34" charset="0"/>
              </a:endParaRPr>
            </a:p>
          </p:txBody>
        </p:sp>
      </p:grpSp>
      <p:sp>
        <p:nvSpPr>
          <p:cNvPr id="51" name="Text Placeholder 1"/>
          <p:cNvSpPr txBox="1">
            <a:spLocks/>
          </p:cNvSpPr>
          <p:nvPr/>
        </p:nvSpPr>
        <p:spPr>
          <a:xfrm>
            <a:off x="1371600" y="983797"/>
            <a:ext cx="8727140" cy="13970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b="1">
                <a:solidFill>
                  <a:schemeClr val="tx1"/>
                </a:solidFill>
              </a:rPr>
              <a:t>II. Hướng phát triển:</a:t>
            </a:r>
            <a:endParaRPr lang="en-US" sz="3600" b="1" dirty="0">
              <a:solidFill>
                <a:schemeClr val="tx1"/>
              </a:solidFill>
            </a:endParaRPr>
          </a:p>
        </p:txBody>
      </p:sp>
      <p:sp>
        <p:nvSpPr>
          <p:cNvPr id="2" name="Rectangle 1"/>
          <p:cNvSpPr/>
          <p:nvPr/>
        </p:nvSpPr>
        <p:spPr>
          <a:xfrm>
            <a:off x="1828800" y="2171700"/>
            <a:ext cx="15925800" cy="809068"/>
          </a:xfrm>
          <a:prstGeom prst="rect">
            <a:avLst/>
          </a:prstGeom>
        </p:spPr>
        <p:txBody>
          <a:bodyPr wrap="square">
            <a:spAutoFit/>
          </a:bodyPr>
          <a:lstStyle/>
          <a:p>
            <a:pPr indent="457200" algn="just">
              <a:lnSpc>
                <a:spcPct val="150000"/>
              </a:lnSpc>
              <a:spcAft>
                <a:spcPts val="0"/>
              </a:spcAft>
            </a:pPr>
            <a:r>
              <a:rPr lang="en-US" sz="3500" smtClean="0">
                <a:latin typeface="Cabin Bold" panose="020B0604020202020204" charset="0"/>
                <a:ea typeface="Times New Roman" panose="02020603050405020304" pitchFamily="18" charset="0"/>
              </a:rPr>
              <a:t>Cá nhân hóa trải nghiệm mua sắm người dùng</a:t>
            </a:r>
            <a:endParaRPr lang="en-US" sz="3500">
              <a:effectLst/>
              <a:latin typeface="Cabin Bold" panose="020B0604020202020204" charset="0"/>
              <a:ea typeface="Times New Roman" panose="02020603050405020304" pitchFamily="18" charset="0"/>
            </a:endParaRPr>
          </a:p>
        </p:txBody>
      </p:sp>
      <p:sp>
        <p:nvSpPr>
          <p:cNvPr id="3" name="Rectangle 2"/>
          <p:cNvSpPr/>
          <p:nvPr/>
        </p:nvSpPr>
        <p:spPr>
          <a:xfrm>
            <a:off x="2286000" y="3295182"/>
            <a:ext cx="4160113" cy="630942"/>
          </a:xfrm>
          <a:prstGeom prst="rect">
            <a:avLst/>
          </a:prstGeom>
        </p:spPr>
        <p:txBody>
          <a:bodyPr wrap="none">
            <a:spAutoFit/>
          </a:bodyPr>
          <a:lstStyle/>
          <a:p>
            <a:r>
              <a:rPr lang="en-US" sz="3500" b="1">
                <a:latin typeface="Cabin Bold" panose="020B0604020202020204" charset="0"/>
                <a:ea typeface="Times New Roman" panose="02020603050405020304" pitchFamily="18" charset="0"/>
              </a:rPr>
              <a:t>Tích hợp trợ lý ảo AI </a:t>
            </a:r>
            <a:endParaRPr lang="en-US" sz="3500" b="1">
              <a:latin typeface="Cabin Bold" panose="020B0604020202020204" charset="0"/>
            </a:endParaRPr>
          </a:p>
        </p:txBody>
      </p:sp>
    </p:spTree>
    <p:extLst>
      <p:ext uri="{BB962C8B-B14F-4D97-AF65-F5344CB8AC3E}">
        <p14:creationId xmlns:p14="http://schemas.microsoft.com/office/powerpoint/2010/main" val="747039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2.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3.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4.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5.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6.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7.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8.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9.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10.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11.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12.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13.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14.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15.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16.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17.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18.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19.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20.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21.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22.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23.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24.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25.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26.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27.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28.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29.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30.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31.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32.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33.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34.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ags/tag35.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任意多边形 96"/>
</p:tagLst>
</file>

<file path=ppt/tags/tag36.xml><?xml version="1.0" encoding="utf-8"?>
<p:tagLst xmlns:a="http://schemas.openxmlformats.org/drawingml/2006/main" xmlns:r="http://schemas.openxmlformats.org/officeDocument/2006/relationships" xmlns:p="http://schemas.openxmlformats.org/presentationml/2006/main">
  <p:tag name="MH" val="20170525160049"/>
  <p:tag name="MH_LIBRARY" val="GRAPHIC"/>
  <p:tag name="MH_ORDER" val="Oval 6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347</Words>
  <Application>Microsoft Office PowerPoint</Application>
  <PresentationFormat>Custom</PresentationFormat>
  <Paragraphs>70</Paragraphs>
  <Slides>10</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Calibri</vt:lpstr>
      <vt:lpstr>Tahoma</vt:lpstr>
      <vt:lpstr>HelveticaNeueLT Pro 67 MdCn</vt:lpstr>
      <vt:lpstr>华文细黑</vt:lpstr>
      <vt:lpstr>Arial</vt:lpstr>
      <vt:lpstr>Times New Roman</vt:lpstr>
      <vt:lpstr>Cabin Bold</vt:lpstr>
      <vt:lpstr>宋体</vt:lpstr>
      <vt:lpstr>Cabin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Bản đề xuất dự án Thuyết trình doanh nghiệp theo Phong cách Công nghệ Trừu tượng Xanh dương Đậm Hồng</dc:title>
  <cp:lastModifiedBy>Ho Hoang Long</cp:lastModifiedBy>
  <cp:revision>18</cp:revision>
  <dcterms:created xsi:type="dcterms:W3CDTF">2006-08-16T00:00:00Z</dcterms:created>
  <dcterms:modified xsi:type="dcterms:W3CDTF">2025-12-28T13:43:00Z</dcterms:modified>
  <dc:identifier>DAG8x5EUJvk</dc:identifier>
</cp:coreProperties>
</file>